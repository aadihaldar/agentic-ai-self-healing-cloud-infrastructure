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svg" ContentType="image/svg+xml"/>
  <Override PartName="/ppt/media/image2.svg" ContentType="image/svg+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embeddedFontLst>
    <p:embeddedFont>
      <p:font typeface="Montserrat SemiBold" panose="020F0502020204030204" pitchFamily="2" charset="0"/>
      <p:regular r:id="rId14"/>
      <p:bold r:id="rId15"/>
      <p:boldItalic r:id="rId16"/>
    </p:embeddedFont>
    <p:embeddedFont>
      <p:font typeface="Nunito Sans" panose="020F0502020204030204" pitchFamily="2" charset="0"/>
      <p:regular r:id="rId17"/>
    </p:embeddedFont>
    <p:embeddedFont>
      <p:font typeface="Nunito Sans Bold" panose="020B0604020202020204" charset="0"/>
      <p:regular r:id="rId1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3" d="100"/>
          <a:sy n="113" d="100"/>
        </p:scale>
        <p:origin x="586"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font" Target="fonts/font1.fntdata"/><Relationship Id="rId15" Type="http://schemas.openxmlformats.org/officeDocument/2006/relationships/font" Target="fonts/font2.fntdata"/><Relationship Id="rId16" Type="http://schemas.openxmlformats.org/officeDocument/2006/relationships/font" Target="fonts/font3.fntdata"/><Relationship Id="rId17" Type="http://schemas.openxmlformats.org/officeDocument/2006/relationships/font" Target="fonts/font4.fntdata"/><Relationship Id="rId18" Type="http://schemas.openxmlformats.org/officeDocument/2006/relationships/font" Target="fonts/font5.fntdata"/><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462713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6E6E6"/>
          </a:solidFill>
          <a:ln/>
        </p:spPr>
      </p:sp>
      <p:sp>
        <p:nvSpPr>
          <p:cNvPr id="3" name="Shape 1"/>
          <p:cNvSpPr/>
          <p:nvPr/>
        </p:nvSpPr>
        <p:spPr>
          <a:xfrm>
            <a:off x="0" y="0"/>
            <a:ext cx="9144000" cy="5143500"/>
          </a:xfrm>
          <a:prstGeom prst="rect">
            <a:avLst/>
          </a:prstGeom>
          <a:solidFill>
            <a:srgbClr val="FFFFFF">
              <a:alpha val="75000"/>
            </a:srgbClr>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svg"/><Relationship Id="rId4" Type="http://schemas.openxmlformats.org/officeDocument/2006/relationships/image" Target="../media/image2.svg"/><Relationship Id="rId5" Type="http://schemas.openxmlformats.org/officeDocument/2006/relationships/image" Target="../media/image3.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96118" y="980857"/>
            <a:ext cx="8151763" cy="885974"/>
          </a:xfrm>
          <a:prstGeom prst="rect">
            <a:avLst/>
          </a:prstGeom>
          <a:noFill/>
          <a:ln/>
        </p:spPr>
        <p:txBody>
          <a:bodyPr wrap="square" lIns="0" tIns="0" rIns="0" bIns="0" rtlCol="0" anchor="t">
            <a:normAutofit/>
          </a:bodyPr>
          <a:lstStyle/>
          <a:p>
            <a:pPr marL="0" indent="0" algn="l">
              <a:lnSpc>
                <a:spcPct val="104000"/>
              </a:lnSpc>
              <a:buNone/>
            </a:pPr>
            <a:r>
              <a:rPr lang="en-US" sz="2750" dirty="0">
                <a:solidFill>
                  <a:srgbClr val="000000"/>
                </a:solidFill>
                <a:latin typeface="Montserrat SemiBold" pitchFamily="34" charset="0"/>
                <a:ea typeface="Montserrat SemiBold" pitchFamily="34" charset="-122"/>
                <a:cs typeface="Montserrat SemiBold" pitchFamily="34" charset="-120"/>
              </a:rPr>
              <a:t>Agentic AI-Driven Self-Healing Cloud Infrastructure</a:t>
            </a:r>
            <a:endParaRPr lang="en-US" sz="2750" dirty="0"/>
          </a:p>
        </p:txBody>
      </p:sp>
      <p:sp>
        <p:nvSpPr>
          <p:cNvPr id="3" name="Text 1"/>
          <p:cNvSpPr/>
          <p:nvPr/>
        </p:nvSpPr>
        <p:spPr>
          <a:xfrm>
            <a:off x="496117" y="2344936"/>
            <a:ext cx="8151763"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000000"/>
                </a:solidFill>
                <a:latin typeface="Nunito Sans" pitchFamily="34" charset="0"/>
                <a:ea typeface="Nunito Sans" pitchFamily="34" charset="-122"/>
                <a:cs typeface="Nunito Sans" pitchFamily="34" charset="-120"/>
              </a:rPr>
              <a:t>Explainable anomaly detection, digital-twin simulation, and autonomous shift-left PR intelligence — a unified, closed-loop platform for zero-downtime cloud operations.</a:t>
            </a:r>
            <a:endParaRPr lang="en-US" sz="1100" dirty="0"/>
          </a:p>
        </p:txBody>
      </p:sp>
      <p:grpSp>
        <p:nvGrpSpPr>
          <p:cNvPr id="10" name="Group 9">
            <a:extLst>
              <a:ext uri="{FF2B5EF4-FFF2-40B4-BE49-F238E27FC236}">
                <a16:creationId xmlns:a16="http://schemas.microsoft.com/office/drawing/2014/main" id="{C8C6A589-0440-6179-FD81-9D1E6FDC0094}"/>
              </a:ext>
            </a:extLst>
          </p:cNvPr>
          <p:cNvGrpSpPr/>
          <p:nvPr/>
        </p:nvGrpSpPr>
        <p:grpSpPr>
          <a:xfrm>
            <a:off x="496121" y="3015417"/>
            <a:ext cx="7556424" cy="1578468"/>
            <a:chOff x="793787" y="4296503"/>
            <a:chExt cx="7556424" cy="1578468"/>
          </a:xfrm>
        </p:grpSpPr>
        <p:sp>
          <p:nvSpPr>
            <p:cNvPr id="11" name="Text 2">
              <a:extLst>
                <a:ext uri="{FF2B5EF4-FFF2-40B4-BE49-F238E27FC236}">
                  <a16:creationId xmlns:a16="http://schemas.microsoft.com/office/drawing/2014/main" id="{54DA4DE6-F419-649B-B492-5288464B4150}"/>
                </a:ext>
              </a:extLst>
            </p:cNvPr>
            <p:cNvSpPr/>
            <p:nvPr/>
          </p:nvSpPr>
          <p:spPr>
            <a:xfrm>
              <a:off x="793790" y="4296503"/>
              <a:ext cx="7556421" cy="362903"/>
            </a:xfrm>
            <a:prstGeom prst="rect">
              <a:avLst/>
            </a:prstGeom>
            <a:noFill/>
            <a:ln/>
          </p:spPr>
          <p:txBody>
            <a:bodyPr wrap="none" lIns="0" tIns="0" rIns="0" bIns="0" rtlCol="0" anchor="t"/>
            <a:lstStyle/>
            <a:p>
              <a:pPr marL="0" indent="0" algn="l">
                <a:lnSpc>
                  <a:spcPts val="2850"/>
                </a:lnSpc>
                <a:buNone/>
              </a:pPr>
              <a:r>
                <a:rPr lang="en-US" sz="1100" dirty="0">
                  <a:solidFill>
                    <a:srgbClr val="000000"/>
                  </a:solidFill>
                  <a:latin typeface="Nunito Sans" pitchFamily="34" charset="0"/>
                </a:rPr>
                <a:t>By – Group 8:</a:t>
              </a:r>
            </a:p>
          </p:txBody>
        </p:sp>
        <p:sp>
          <p:nvSpPr>
            <p:cNvPr id="12" name="Text 3">
              <a:extLst>
                <a:ext uri="{FF2B5EF4-FFF2-40B4-BE49-F238E27FC236}">
                  <a16:creationId xmlns:a16="http://schemas.microsoft.com/office/drawing/2014/main" id="{D2BFE7E7-3FE9-C5F0-4FAF-FF3D89755A8E}"/>
                </a:ext>
              </a:extLst>
            </p:cNvPr>
            <p:cNvSpPr/>
            <p:nvPr/>
          </p:nvSpPr>
          <p:spPr>
            <a:xfrm>
              <a:off x="793790" y="4548545"/>
              <a:ext cx="7556421" cy="362903"/>
            </a:xfrm>
            <a:prstGeom prst="rect">
              <a:avLst/>
            </a:prstGeom>
            <a:noFill/>
            <a:ln/>
          </p:spPr>
          <p:txBody>
            <a:bodyPr wrap="none" lIns="0" tIns="0" rIns="0" bIns="0" rtlCol="0" anchor="t"/>
            <a:lstStyle/>
            <a:p>
              <a:pPr marL="0" indent="0" algn="l">
                <a:lnSpc>
                  <a:spcPts val="2850"/>
                </a:lnSpc>
                <a:buNone/>
              </a:pPr>
              <a:r>
                <a:rPr lang="en-US" sz="1100" dirty="0">
                  <a:solidFill>
                    <a:srgbClr val="000000"/>
                  </a:solidFill>
                  <a:latin typeface="Nunito Sans" pitchFamily="34" charset="0"/>
                </a:rPr>
                <a:t>Raghuram Sekar (CB.SC.U4AIE24247)</a:t>
              </a:r>
            </a:p>
          </p:txBody>
        </p:sp>
        <p:sp>
          <p:nvSpPr>
            <p:cNvPr id="13" name="Text 4">
              <a:extLst>
                <a:ext uri="{FF2B5EF4-FFF2-40B4-BE49-F238E27FC236}">
                  <a16:creationId xmlns:a16="http://schemas.microsoft.com/office/drawing/2014/main" id="{0E7AA6E0-7BFB-59FA-3F01-75600C8A5D8D}"/>
                </a:ext>
              </a:extLst>
            </p:cNvPr>
            <p:cNvSpPr/>
            <p:nvPr/>
          </p:nvSpPr>
          <p:spPr>
            <a:xfrm>
              <a:off x="793790" y="4745255"/>
              <a:ext cx="7556421" cy="520379"/>
            </a:xfrm>
            <a:prstGeom prst="rect">
              <a:avLst/>
            </a:prstGeom>
            <a:noFill/>
            <a:ln/>
          </p:spPr>
          <p:txBody>
            <a:bodyPr wrap="none" lIns="0" tIns="0" rIns="0" bIns="0" rtlCol="0" anchor="t"/>
            <a:lstStyle/>
            <a:p>
              <a:pPr>
                <a:lnSpc>
                  <a:spcPts val="2850"/>
                </a:lnSpc>
              </a:pPr>
              <a:r>
                <a:rPr lang="en-US" sz="1100" dirty="0">
                  <a:solidFill>
                    <a:srgbClr val="000000"/>
                  </a:solidFill>
                  <a:latin typeface="Nunito Sans" pitchFamily="34" charset="0"/>
                </a:rPr>
                <a:t>Aadi Haldar (CB.SC.U4AIE24201)</a:t>
              </a:r>
            </a:p>
          </p:txBody>
        </p:sp>
        <p:sp>
          <p:nvSpPr>
            <p:cNvPr id="14" name="Text 5">
              <a:extLst>
                <a:ext uri="{FF2B5EF4-FFF2-40B4-BE49-F238E27FC236}">
                  <a16:creationId xmlns:a16="http://schemas.microsoft.com/office/drawing/2014/main" id="{D9D00EE4-A8CE-3FC7-8882-FA13372BFEF9}"/>
                </a:ext>
              </a:extLst>
            </p:cNvPr>
            <p:cNvSpPr/>
            <p:nvPr/>
          </p:nvSpPr>
          <p:spPr>
            <a:xfrm>
              <a:off x="793787" y="4962108"/>
              <a:ext cx="7556423" cy="612553"/>
            </a:xfrm>
            <a:prstGeom prst="rect">
              <a:avLst/>
            </a:prstGeom>
            <a:noFill/>
            <a:ln/>
          </p:spPr>
          <p:txBody>
            <a:bodyPr wrap="none" lIns="0" tIns="0" rIns="0" bIns="0" rtlCol="0" anchor="t"/>
            <a:lstStyle/>
            <a:p>
              <a:pPr indent="0">
                <a:lnSpc>
                  <a:spcPts val="2850"/>
                </a:lnSpc>
                <a:buNone/>
              </a:pPr>
              <a:r>
                <a:rPr lang="en-US" sz="1100" dirty="0">
                  <a:solidFill>
                    <a:srgbClr val="000000"/>
                  </a:solidFill>
                  <a:latin typeface="Nunito Sans" pitchFamily="34" charset="0"/>
                </a:rPr>
                <a:t>Aaditya Paul(CB.SC.U4AIE24202)</a:t>
              </a:r>
            </a:p>
          </p:txBody>
        </p:sp>
        <p:sp>
          <p:nvSpPr>
            <p:cNvPr id="15" name="Text 6">
              <a:extLst>
                <a:ext uri="{FF2B5EF4-FFF2-40B4-BE49-F238E27FC236}">
                  <a16:creationId xmlns:a16="http://schemas.microsoft.com/office/drawing/2014/main" id="{EE26DCD7-136E-B921-545E-6C5E8CB909C6}"/>
                </a:ext>
              </a:extLst>
            </p:cNvPr>
            <p:cNvSpPr/>
            <p:nvPr/>
          </p:nvSpPr>
          <p:spPr>
            <a:xfrm>
              <a:off x="793788" y="5173148"/>
              <a:ext cx="7556421" cy="701823"/>
            </a:xfrm>
            <a:prstGeom prst="rect">
              <a:avLst/>
            </a:prstGeom>
            <a:noFill/>
            <a:ln/>
          </p:spPr>
          <p:txBody>
            <a:bodyPr wrap="none" lIns="0" tIns="0" rIns="0" bIns="0" rtlCol="0" anchor="t"/>
            <a:lstStyle/>
            <a:p>
              <a:pPr>
                <a:lnSpc>
                  <a:spcPts val="2850"/>
                </a:lnSpc>
              </a:pPr>
              <a:r>
                <a:rPr lang="en-US" sz="1100" dirty="0">
                  <a:solidFill>
                    <a:srgbClr val="000000"/>
                  </a:solidFill>
                  <a:latin typeface="Nunito Sans" pitchFamily="34" charset="0"/>
                </a:rPr>
                <a:t>Shravan Rajesh Menon(CB.SC.U4AIE24253)</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96119" y="1414611"/>
            <a:ext cx="8151763" cy="442987"/>
          </a:xfrm>
          <a:prstGeom prst="rect">
            <a:avLst/>
          </a:prstGeom>
          <a:noFill/>
          <a:ln/>
        </p:spPr>
        <p:txBody>
          <a:bodyPr wrap="none" lIns="0" tIns="0" rIns="0" bIns="0" rtlCol="0" anchor="t"/>
          <a:lstStyle/>
          <a:p>
            <a:pPr marL="0" indent="0" algn="l">
              <a:lnSpc>
                <a:spcPct val="104000"/>
              </a:lnSpc>
              <a:buNone/>
            </a:pPr>
            <a:r>
              <a:rPr lang="en-US" sz="2750" dirty="0">
                <a:solidFill>
                  <a:srgbClr val="000000"/>
                </a:solidFill>
                <a:latin typeface="Montserrat SemiBold" pitchFamily="34" charset="0"/>
                <a:ea typeface="Montserrat SemiBold" pitchFamily="34" charset="-122"/>
                <a:cs typeface="Montserrat SemiBold" pitchFamily="34" charset="-120"/>
              </a:rPr>
              <a:t>Abstract</a:t>
            </a:r>
            <a:endParaRPr lang="en-US" sz="2750" dirty="0"/>
          </a:p>
        </p:txBody>
      </p:sp>
      <p:sp>
        <p:nvSpPr>
          <p:cNvPr id="3" name="Text 1"/>
          <p:cNvSpPr/>
          <p:nvPr/>
        </p:nvSpPr>
        <p:spPr>
          <a:xfrm>
            <a:off x="496119" y="2141116"/>
            <a:ext cx="8151763" cy="158769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000000"/>
                </a:solidFill>
                <a:latin typeface="Nunito Sans" pitchFamily="34" charset="0"/>
                <a:ea typeface="Nunito Sans" pitchFamily="34" charset="-122"/>
                <a:cs typeface="Nunito Sans" pitchFamily="34" charset="-120"/>
              </a:rPr>
              <a:t>Modern Kubernetes-based cloud systems require mechanisms that can prevent defective code from reaching production while also detecting and remediating runtime faults with minimal human intervention. To address this challenge, we propose an end-to-end closed-loop platform that integrates shift-left pull-request intelligence, a real-time digital twin (TDTdb), explainable anomaly detection via Isolation Forest and KernelSHAP, a dual-agent consensus decision engine based on SimiFed RL and Gemini ReAct, and a SimPy-driven pre-execution safety gate. Implemented natively on Microsoft Azure with GitOps integration, the proposed framework improves deployment safety, interpretability, and operational resilience by combining proactive admission control with autonomous self-healing for cloud workloads.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96119" y="399529"/>
            <a:ext cx="8151763" cy="408384"/>
          </a:xfrm>
          <a:prstGeom prst="rect">
            <a:avLst/>
          </a:prstGeom>
          <a:noFill/>
          <a:ln/>
        </p:spPr>
        <p:txBody>
          <a:bodyPr wrap="none" lIns="0" tIns="0" rIns="0" bIns="0" rtlCol="0" anchor="t"/>
          <a:lstStyle/>
          <a:p>
            <a:pPr marL="0" indent="0" algn="l">
              <a:lnSpc>
                <a:spcPct val="104000"/>
              </a:lnSpc>
              <a:buNone/>
            </a:pPr>
            <a:r>
              <a:rPr lang="en-US" sz="2550" dirty="0">
                <a:solidFill>
                  <a:srgbClr val="000000"/>
                </a:solidFill>
                <a:latin typeface="Montserrat SemiBold" pitchFamily="34" charset="0"/>
                <a:ea typeface="Montserrat SemiBold" pitchFamily="34" charset="-122"/>
                <a:cs typeface="Montserrat SemiBold" pitchFamily="34" charset="-120"/>
              </a:rPr>
              <a:t>Problem Statement</a:t>
            </a:r>
            <a:endParaRPr lang="en-US" sz="2550" dirty="0"/>
          </a:p>
        </p:txBody>
      </p:sp>
      <p:sp>
        <p:nvSpPr>
          <p:cNvPr id="3" name="Text 1"/>
          <p:cNvSpPr/>
          <p:nvPr/>
        </p:nvSpPr>
        <p:spPr>
          <a:xfrm>
            <a:off x="496119" y="1048866"/>
            <a:ext cx="8151763" cy="938882"/>
          </a:xfrm>
          <a:prstGeom prst="rect">
            <a:avLst/>
          </a:prstGeom>
          <a:noFill/>
          <a:ln/>
        </p:spPr>
        <p:txBody>
          <a:bodyPr wrap="square" lIns="0" tIns="0" rIns="0" bIns="0" rtlCol="0" anchor="t">
            <a:normAutofit/>
          </a:bodyPr>
          <a:lstStyle/>
          <a:p>
            <a:pPr marL="0" indent="0" algn="l">
              <a:lnSpc>
                <a:spcPct val="128000"/>
              </a:lnSpc>
              <a:spcAft>
                <a:spcPts val="1050"/>
              </a:spcAft>
              <a:buNone/>
            </a:pPr>
            <a:r>
              <a:rPr lang="en-US" sz="1000" dirty="0">
                <a:solidFill>
                  <a:srgbClr val="000000"/>
                </a:solidFill>
                <a:latin typeface="Nunito Sans" pitchFamily="34" charset="0"/>
                <a:ea typeface="Nunito Sans" pitchFamily="34" charset="-122"/>
                <a:cs typeface="Nunito Sans" pitchFamily="34" charset="-120"/>
              </a:rPr>
              <a:t>Modern distributed cloud systems suffer from two major sources of downtime: faulty code slipping through manual reviews (Shift-Left) and slow, opaque recovery tools when live servers experience traffic spikes or crashes (Runtime Operations).</a:t>
            </a:r>
            <a:endParaRPr lang="en-US" sz="1000" dirty="0"/>
          </a:p>
          <a:p>
            <a:pPr marL="0" indent="0" algn="l">
              <a:lnSpc>
                <a:spcPct val="128000"/>
              </a:lnSpc>
              <a:buNone/>
            </a:pPr>
            <a:r>
              <a:rPr lang="en-US" sz="1000" dirty="0">
                <a:solidFill>
                  <a:srgbClr val="000000"/>
                </a:solidFill>
                <a:latin typeface="Nunito Sans" pitchFamily="34" charset="0"/>
                <a:ea typeface="Nunito Sans" pitchFamily="34" charset="-122"/>
                <a:cs typeface="Nunito Sans" pitchFamily="34" charset="-120"/>
              </a:rPr>
              <a:t>This project presents an Agentic AI-Driven Self-Healing Framework that bridges the gap between software development and live infrastructure management through a single, continuous closed loop:</a:t>
            </a:r>
            <a:endParaRPr lang="en-US" sz="1000" dirty="0"/>
          </a:p>
        </p:txBody>
      </p:sp>
      <p:sp>
        <p:nvSpPr>
          <p:cNvPr id="4" name="Text 2"/>
          <p:cNvSpPr/>
          <p:nvPr/>
        </p:nvSpPr>
        <p:spPr>
          <a:xfrm>
            <a:off x="496119" y="2123256"/>
            <a:ext cx="8151763" cy="2620714"/>
          </a:xfrm>
          <a:prstGeom prst="rect">
            <a:avLst/>
          </a:prstGeom>
          <a:noFill/>
          <a:ln/>
        </p:spPr>
        <p:txBody>
          <a:bodyPr wrap="square" lIns="0" tIns="52277" rIns="0" bIns="0" rtlCol="0" anchor="t">
            <a:normAutofit/>
          </a:bodyPr>
          <a:lstStyle/>
          <a:p>
            <a:pPr marL="203200" indent="-203200" algn="l">
              <a:lnSpc>
                <a:spcPct val="128000"/>
              </a:lnSpc>
              <a:buSzPct val="100000"/>
              <a:buChar char="•"/>
            </a:pPr>
            <a:r>
              <a:rPr lang="en-US" sz="1000" b="1" dirty="0">
                <a:solidFill>
                  <a:srgbClr val="000000"/>
                </a:solidFill>
                <a:latin typeface="Nunito Sans Bold" pitchFamily="34" charset="0"/>
                <a:ea typeface="Nunito Sans Bold" pitchFamily="34" charset="-122"/>
                <a:cs typeface="Nunito Sans Bold" pitchFamily="34" charset="-120"/>
              </a:rPr>
              <a:t>Proactive Shift-Left Quality:</a:t>
            </a:r>
            <a:r>
              <a:rPr lang="en-US" sz="1000" dirty="0">
                <a:solidFill>
                  <a:srgbClr val="000000"/>
                </a:solidFill>
                <a:latin typeface="Nunito Sans" pitchFamily="34" charset="0"/>
                <a:ea typeface="Nunito Sans" pitchFamily="34" charset="-122"/>
                <a:cs typeface="Nunito Sans" pitchFamily="34" charset="-120"/>
              </a:rPr>
              <a:t> Automatically inspects Pull Requests using static AST linters, security scanners, test-coverage auditors, and Gemini LLM reasoning to catch defects before code is merged.</a:t>
            </a:r>
            <a:endParaRPr lang="en-US" sz="1000" dirty="0"/>
          </a:p>
          <a:p>
            <a:pPr marL="203200" indent="-203200" algn="l">
              <a:lnSpc>
                <a:spcPct val="128000"/>
              </a:lnSpc>
              <a:buSzPct val="100000"/>
              <a:buChar char="•"/>
            </a:pPr>
            <a:r>
              <a:rPr lang="en-US" sz="1000" b="1" dirty="0">
                <a:solidFill>
                  <a:srgbClr val="000000"/>
                </a:solidFill>
                <a:latin typeface="Nunito Sans Bold" pitchFamily="34" charset="0"/>
                <a:ea typeface="Nunito Sans Bold" pitchFamily="34" charset="-122"/>
                <a:cs typeface="Nunito Sans Bold" pitchFamily="34" charset="-120"/>
              </a:rPr>
              <a:t>Real-Time Digital Twin Monitoring:</a:t>
            </a:r>
            <a:r>
              <a:rPr lang="en-US" sz="1000" dirty="0">
                <a:solidFill>
                  <a:srgbClr val="000000"/>
                </a:solidFill>
                <a:latin typeface="Nunito Sans" pitchFamily="34" charset="0"/>
                <a:ea typeface="Nunito Sans" pitchFamily="34" charset="-122"/>
                <a:cs typeface="Nunito Sans" pitchFamily="34" charset="-120"/>
              </a:rPr>
              <a:t> Continuously mirrors live microservice states and dependency call chains in an in-memory graph model (TDTdb).</a:t>
            </a:r>
            <a:endParaRPr lang="en-US" sz="1000" dirty="0"/>
          </a:p>
          <a:p>
            <a:pPr marL="203200" indent="-203200" algn="l">
              <a:lnSpc>
                <a:spcPct val="128000"/>
              </a:lnSpc>
              <a:buSzPct val="100000"/>
              <a:buChar char="•"/>
            </a:pPr>
            <a:r>
              <a:rPr lang="en-US" sz="1000" b="1" dirty="0">
                <a:solidFill>
                  <a:srgbClr val="000000"/>
                </a:solidFill>
                <a:latin typeface="Nunito Sans Bold" pitchFamily="34" charset="0"/>
                <a:ea typeface="Nunito Sans Bold" pitchFamily="34" charset="-122"/>
                <a:cs typeface="Nunito Sans Bold" pitchFamily="34" charset="-120"/>
              </a:rPr>
              <a:t>Explainable Anomaly Detection:</a:t>
            </a:r>
            <a:r>
              <a:rPr lang="en-US" sz="1000" dirty="0">
                <a:solidFill>
                  <a:srgbClr val="000000"/>
                </a:solidFill>
                <a:latin typeface="Nunito Sans" pitchFamily="34" charset="0"/>
                <a:ea typeface="Nunito Sans" pitchFamily="34" charset="-122"/>
                <a:cs typeface="Nunito Sans" pitchFamily="34" charset="-120"/>
              </a:rPr>
              <a:t> Replaces black-box thresholding with Isolation Forest and KernelSHAP to show operators exactly which metrics (CPU, RAM, latency, request rate) triggered an alert.</a:t>
            </a:r>
            <a:endParaRPr lang="en-US" sz="1000" dirty="0"/>
          </a:p>
          <a:p>
            <a:pPr marL="203200" indent="-203200" algn="l">
              <a:lnSpc>
                <a:spcPct val="128000"/>
              </a:lnSpc>
              <a:buSzPct val="100000"/>
              <a:buChar char="•"/>
            </a:pPr>
            <a:r>
              <a:rPr lang="en-US" sz="1000" b="1" dirty="0">
                <a:solidFill>
                  <a:srgbClr val="000000"/>
                </a:solidFill>
                <a:latin typeface="Nunito Sans Bold" pitchFamily="34" charset="0"/>
                <a:ea typeface="Nunito Sans Bold" pitchFamily="34" charset="-122"/>
                <a:cs typeface="Nunito Sans Bold" pitchFamily="34" charset="-120"/>
              </a:rPr>
              <a:t>Dual-Agent Consensus Decision Engine:</a:t>
            </a:r>
            <a:r>
              <a:rPr lang="en-US" sz="1000" dirty="0">
                <a:solidFill>
                  <a:srgbClr val="000000"/>
                </a:solidFill>
                <a:latin typeface="Nunito Sans" pitchFamily="34" charset="0"/>
                <a:ea typeface="Nunito Sans" pitchFamily="34" charset="-122"/>
                <a:cs typeface="Nunito Sans" pitchFamily="34" charset="-120"/>
              </a:rPr>
              <a:t> Evaluates incident remediation by running a fast SimiFed reinforcement learning reflex alongside deep Gemini ReAct chain-of-thought analysis.</a:t>
            </a:r>
            <a:endParaRPr lang="en-US" sz="1000" dirty="0"/>
          </a:p>
          <a:p>
            <a:pPr marL="203200" indent="-203200" algn="l">
              <a:lnSpc>
                <a:spcPct val="128000"/>
              </a:lnSpc>
              <a:buSzPct val="100000"/>
              <a:buChar char="•"/>
            </a:pPr>
            <a:r>
              <a:rPr lang="en-US" sz="1000" b="1" dirty="0">
                <a:solidFill>
                  <a:srgbClr val="000000"/>
                </a:solidFill>
                <a:latin typeface="Nunito Sans Bold" pitchFamily="34" charset="0"/>
                <a:ea typeface="Nunito Sans Bold" pitchFamily="34" charset="-122"/>
                <a:cs typeface="Nunito Sans Bold" pitchFamily="34" charset="-120"/>
              </a:rPr>
              <a:t>Pre-Execution Safety Simulation:</a:t>
            </a:r>
            <a:r>
              <a:rPr lang="en-US" sz="1000" dirty="0">
                <a:solidFill>
                  <a:srgbClr val="000000"/>
                </a:solidFill>
                <a:latin typeface="Nunito Sans" pitchFamily="34" charset="0"/>
                <a:ea typeface="Nunito Sans" pitchFamily="34" charset="-122"/>
                <a:cs typeface="Nunito Sans" pitchFamily="34" charset="-120"/>
              </a:rPr>
              <a:t> Validates proposed healing actions (scale up, restart, patch limits) inside a 0.01-second SimPy discrete-event queue before touching live cloud servers.</a:t>
            </a:r>
            <a:endParaRPr lang="en-US" sz="1000" dirty="0"/>
          </a:p>
          <a:p>
            <a:pPr marL="203200" indent="-203200" algn="l">
              <a:lnSpc>
                <a:spcPct val="128000"/>
              </a:lnSpc>
              <a:buSzPct val="100000"/>
              <a:buChar char="•"/>
            </a:pPr>
            <a:r>
              <a:rPr lang="en-US" sz="1000" b="1" dirty="0">
                <a:solidFill>
                  <a:srgbClr val="000000"/>
                </a:solidFill>
                <a:latin typeface="Nunito Sans Bold" pitchFamily="34" charset="0"/>
                <a:ea typeface="Nunito Sans Bold" pitchFamily="34" charset="-122"/>
                <a:cs typeface="Nunito Sans Bold" pitchFamily="34" charset="-120"/>
              </a:rPr>
              <a:t>Enterprise Cloud Delivery:</a:t>
            </a:r>
            <a:r>
              <a:rPr lang="en-US" sz="1000" dirty="0">
                <a:solidFill>
                  <a:srgbClr val="000000"/>
                </a:solidFill>
                <a:latin typeface="Nunito Sans" pitchFamily="34" charset="0"/>
                <a:ea typeface="Nunito Sans" pitchFamily="34" charset="-122"/>
                <a:cs typeface="Nunito Sans" pitchFamily="34" charset="-120"/>
              </a:rPr>
              <a:t> Deployed natively on Microsoft Azure with automated GitOps PR creation and a real-time operator control console.</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96119" y="1297707"/>
            <a:ext cx="8151763" cy="442987"/>
          </a:xfrm>
          <a:prstGeom prst="rect">
            <a:avLst/>
          </a:prstGeom>
          <a:noFill/>
          <a:ln/>
        </p:spPr>
        <p:txBody>
          <a:bodyPr wrap="none" lIns="0" tIns="0" rIns="0" bIns="0" rtlCol="0" anchor="t"/>
          <a:lstStyle/>
          <a:p>
            <a:pPr marL="0" indent="0" algn="l">
              <a:lnSpc>
                <a:spcPct val="104000"/>
              </a:lnSpc>
              <a:buNone/>
            </a:pPr>
            <a:r>
              <a:rPr lang="en-US" sz="2750" dirty="0">
                <a:solidFill>
                  <a:srgbClr val="000000"/>
                </a:solidFill>
                <a:latin typeface="Montserrat SemiBold" pitchFamily="34" charset="0"/>
                <a:ea typeface="Montserrat SemiBold" pitchFamily="34" charset="-122"/>
                <a:cs typeface="Montserrat SemiBold" pitchFamily="34" charset="-120"/>
              </a:rPr>
              <a:t>Foundation from Base Paper (SF-DTM)</a:t>
            </a:r>
            <a:endParaRPr lang="en-US" sz="2750" dirty="0"/>
          </a:p>
        </p:txBody>
      </p:sp>
      <p:sp>
        <p:nvSpPr>
          <p:cNvPr id="3" name="Text 1"/>
          <p:cNvSpPr/>
          <p:nvPr/>
        </p:nvSpPr>
        <p:spPr>
          <a:xfrm>
            <a:off x="496119" y="2024211"/>
            <a:ext cx="8608963" cy="226814"/>
          </a:xfrm>
          <a:prstGeom prst="rect">
            <a:avLst/>
          </a:prstGeom>
          <a:noFill/>
          <a:ln/>
        </p:spPr>
        <p:txBody>
          <a:bodyPr wrap="none" lIns="0" tIns="0" rIns="0" bIns="0" rtlCol="0" anchor="t"/>
          <a:lstStyle/>
          <a:p>
            <a:pPr marL="0" indent="0" algn="l">
              <a:lnSpc>
                <a:spcPct val="133000"/>
              </a:lnSpc>
              <a:buNone/>
            </a:pPr>
            <a:r>
              <a:rPr lang="en-US" sz="1100" dirty="0">
                <a:solidFill>
                  <a:srgbClr val="000000"/>
                </a:solidFill>
                <a:latin typeface="Nunito Sans" pitchFamily="34" charset="0"/>
                <a:ea typeface="Nunito Sans" pitchFamily="34" charset="-122"/>
                <a:cs typeface="Nunito Sans" pitchFamily="34" charset="-120"/>
              </a:rPr>
              <a:t>Built on SF-DTM (Saxena &amp; Singh, IEEE TII 2025) and augmented with multi-source research:</a:t>
            </a:r>
            <a:endParaRPr lang="en-US" sz="110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6119" y="2410495"/>
            <a:ext cx="354360" cy="354360"/>
          </a:xfrm>
          <a:prstGeom prst="rect">
            <a:avLst/>
          </a:prstGeom>
        </p:spPr>
      </p:pic>
      <p:sp>
        <p:nvSpPr>
          <p:cNvPr id="5" name="Text 2"/>
          <p:cNvSpPr/>
          <p:nvPr/>
        </p:nvSpPr>
        <p:spPr>
          <a:xfrm>
            <a:off x="1027658" y="2410495"/>
            <a:ext cx="2067595" cy="221456"/>
          </a:xfrm>
          <a:prstGeom prst="rect">
            <a:avLst/>
          </a:prstGeom>
          <a:noFill/>
          <a:ln/>
        </p:spPr>
        <p:txBody>
          <a:bodyPr wrap="none" lIns="0" tIns="0" rIns="0" bIns="0" rtlCol="0" anchor="t"/>
          <a:lstStyle/>
          <a:p>
            <a:pPr marL="0" indent="0" algn="l">
              <a:lnSpc>
                <a:spcPct val="104000"/>
              </a:lnSpc>
              <a:buNone/>
            </a:pPr>
            <a:r>
              <a:rPr lang="en-US" sz="1350" dirty="0">
                <a:solidFill>
                  <a:srgbClr val="000000"/>
                </a:solidFill>
                <a:latin typeface="Montserrat SemiBold" pitchFamily="34" charset="0"/>
                <a:ea typeface="Montserrat SemiBold" pitchFamily="34" charset="-122"/>
                <a:cs typeface="Montserrat SemiBold" pitchFamily="34" charset="-120"/>
              </a:rPr>
              <a:t>Digital Twin Theory</a:t>
            </a:r>
            <a:endParaRPr lang="en-US" sz="1350" dirty="0"/>
          </a:p>
        </p:txBody>
      </p:sp>
      <p:sp>
        <p:nvSpPr>
          <p:cNvPr id="6" name="Text 3"/>
          <p:cNvSpPr/>
          <p:nvPr/>
        </p:nvSpPr>
        <p:spPr>
          <a:xfrm>
            <a:off x="1027658" y="2717006"/>
            <a:ext cx="2067595" cy="907256"/>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000000"/>
                </a:solidFill>
                <a:latin typeface="Nunito Sans" pitchFamily="34" charset="0"/>
                <a:ea typeface="Nunito Sans" pitchFamily="34" charset="-122"/>
                <a:cs typeface="Nunito Sans" pitchFamily="34" charset="-120"/>
              </a:rPr>
              <a:t>TDTdb models temporal execution traces and dependencies for accurate what-if simulation.</a:t>
            </a:r>
            <a:endParaRPr lang="en-US" sz="110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72433" y="2410495"/>
            <a:ext cx="354360" cy="354360"/>
          </a:xfrm>
          <a:prstGeom prst="rect">
            <a:avLst/>
          </a:prstGeom>
        </p:spPr>
      </p:pic>
      <p:sp>
        <p:nvSpPr>
          <p:cNvPr id="8" name="Text 4"/>
          <p:cNvSpPr/>
          <p:nvPr/>
        </p:nvSpPr>
        <p:spPr>
          <a:xfrm>
            <a:off x="3803972" y="2410495"/>
            <a:ext cx="2067595" cy="442913"/>
          </a:xfrm>
          <a:prstGeom prst="rect">
            <a:avLst/>
          </a:prstGeom>
          <a:noFill/>
          <a:ln/>
        </p:spPr>
        <p:txBody>
          <a:bodyPr wrap="square" lIns="0" tIns="0" rIns="0" bIns="0" rtlCol="0" anchor="t">
            <a:normAutofit/>
          </a:bodyPr>
          <a:lstStyle/>
          <a:p>
            <a:pPr marL="0" indent="0" algn="l">
              <a:lnSpc>
                <a:spcPct val="104000"/>
              </a:lnSpc>
              <a:buNone/>
            </a:pPr>
            <a:r>
              <a:rPr lang="en-US" sz="1350" dirty="0">
                <a:solidFill>
                  <a:srgbClr val="000000"/>
                </a:solidFill>
                <a:latin typeface="Montserrat SemiBold" pitchFamily="34" charset="0"/>
                <a:ea typeface="Montserrat SemiBold" pitchFamily="34" charset="-122"/>
                <a:cs typeface="Montserrat SemiBold" pitchFamily="34" charset="-120"/>
              </a:rPr>
              <a:t>Dual-Speed Intelligence</a:t>
            </a:r>
            <a:endParaRPr lang="en-US" sz="1350" dirty="0"/>
          </a:p>
        </p:txBody>
      </p:sp>
      <p:sp>
        <p:nvSpPr>
          <p:cNvPr id="9" name="Text 5"/>
          <p:cNvSpPr/>
          <p:nvPr/>
        </p:nvSpPr>
        <p:spPr>
          <a:xfrm>
            <a:off x="3803972" y="2938463"/>
            <a:ext cx="2067595" cy="907256"/>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000000"/>
                </a:solidFill>
                <a:latin typeface="Nunito Sans" pitchFamily="34" charset="0"/>
                <a:ea typeface="Nunito Sans" pitchFamily="34" charset="-122"/>
                <a:cs typeface="Nunito Sans" pitchFamily="34" charset="-120"/>
              </a:rPr>
              <a:t>Fast local reflexes (0.001s) + deep centralized reasoning (2.4s) to balance safety and responsiveness.</a:t>
            </a:r>
            <a:endParaRPr lang="en-US" sz="110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048747" y="2410495"/>
            <a:ext cx="354360" cy="354360"/>
          </a:xfrm>
          <a:prstGeom prst="rect">
            <a:avLst/>
          </a:prstGeom>
        </p:spPr>
      </p:pic>
      <p:sp>
        <p:nvSpPr>
          <p:cNvPr id="11" name="Text 6"/>
          <p:cNvSpPr/>
          <p:nvPr/>
        </p:nvSpPr>
        <p:spPr>
          <a:xfrm>
            <a:off x="6580287" y="2410495"/>
            <a:ext cx="2067595" cy="221456"/>
          </a:xfrm>
          <a:prstGeom prst="rect">
            <a:avLst/>
          </a:prstGeom>
          <a:noFill/>
          <a:ln/>
        </p:spPr>
        <p:txBody>
          <a:bodyPr wrap="none" lIns="0" tIns="0" rIns="0" bIns="0" rtlCol="0" anchor="t"/>
          <a:lstStyle/>
          <a:p>
            <a:pPr marL="0" indent="0" algn="l">
              <a:lnSpc>
                <a:spcPct val="104000"/>
              </a:lnSpc>
              <a:buNone/>
            </a:pPr>
            <a:r>
              <a:rPr lang="en-US" sz="1350" dirty="0">
                <a:solidFill>
                  <a:srgbClr val="000000"/>
                </a:solidFill>
                <a:latin typeface="Montserrat SemiBold" pitchFamily="34" charset="0"/>
                <a:ea typeface="Montserrat SemiBold" pitchFamily="34" charset="-122"/>
                <a:cs typeface="Montserrat SemiBold" pitchFamily="34" charset="-120"/>
              </a:rPr>
              <a:t>Explainability &amp; Safety</a:t>
            </a:r>
            <a:endParaRPr lang="en-US" sz="1350" dirty="0"/>
          </a:p>
        </p:txBody>
      </p:sp>
      <p:sp>
        <p:nvSpPr>
          <p:cNvPr id="12" name="Text 7"/>
          <p:cNvSpPr/>
          <p:nvPr/>
        </p:nvSpPr>
        <p:spPr>
          <a:xfrm>
            <a:off x="6580287" y="2717006"/>
            <a:ext cx="2067595" cy="680442"/>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000000"/>
                </a:solidFill>
                <a:latin typeface="Nunito Sans" pitchFamily="34" charset="0"/>
                <a:ea typeface="Nunito Sans" pitchFamily="34" charset="-122"/>
                <a:cs typeface="Nunito Sans" pitchFamily="34" charset="-120"/>
              </a:rPr>
              <a:t>KernelSHAP for attribution and SimPy dry-runs (0.01s) to verify actions before execution.</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96119" y="403622"/>
            <a:ext cx="8151763" cy="269900"/>
          </a:xfrm>
          <a:prstGeom prst="rect">
            <a:avLst/>
          </a:prstGeom>
          <a:noFill/>
          <a:ln/>
        </p:spPr>
        <p:txBody>
          <a:bodyPr wrap="none" lIns="0" tIns="0" rIns="0" bIns="0" rtlCol="0" anchor="t"/>
          <a:lstStyle/>
          <a:p>
            <a:pPr marL="0" indent="0" algn="l">
              <a:lnSpc>
                <a:spcPct val="104000"/>
              </a:lnSpc>
              <a:buNone/>
            </a:pPr>
            <a:r>
              <a:rPr lang="en-US" sz="1700" dirty="0">
                <a:solidFill>
                  <a:srgbClr val="000000"/>
                </a:solidFill>
                <a:latin typeface="Montserrat SemiBold" pitchFamily="34" charset="0"/>
                <a:ea typeface="Montserrat SemiBold" pitchFamily="34" charset="-122"/>
                <a:cs typeface="Montserrat SemiBold" pitchFamily="34" charset="-120"/>
              </a:rPr>
              <a:t>Comparative Literature Survey Matrix</a:t>
            </a:r>
            <a:endParaRPr lang="en-US" sz="1700" dirty="0"/>
          </a:p>
        </p:txBody>
      </p:sp>
      <p:sp>
        <p:nvSpPr>
          <p:cNvPr id="3" name="Text 1"/>
          <p:cNvSpPr/>
          <p:nvPr/>
        </p:nvSpPr>
        <p:spPr>
          <a:xfrm>
            <a:off x="496119" y="778743"/>
            <a:ext cx="8608963" cy="111175"/>
          </a:xfrm>
          <a:prstGeom prst="rect">
            <a:avLst/>
          </a:prstGeom>
          <a:noFill/>
          <a:ln/>
        </p:spPr>
        <p:txBody>
          <a:bodyPr wrap="none" lIns="0" tIns="0" rIns="0" bIns="0" rtlCol="0" anchor="t"/>
          <a:lstStyle/>
          <a:p>
            <a:pPr marL="0" indent="0" algn="l">
              <a:lnSpc>
                <a:spcPct val="107000"/>
              </a:lnSpc>
              <a:buNone/>
            </a:pPr>
            <a:r>
              <a:rPr lang="en-US" sz="650" dirty="0">
                <a:solidFill>
                  <a:srgbClr val="000000"/>
                </a:solidFill>
                <a:latin typeface="Nunito Sans" pitchFamily="34" charset="0"/>
                <a:ea typeface="Nunito Sans" pitchFamily="34" charset="-122"/>
                <a:cs typeface="Nunito Sans" pitchFamily="34" charset="-120"/>
              </a:rPr>
              <a:t>A concise visual comparison of 10 foundational papers across monitoring, explainability, automation, simulation, and safe remediation.</a:t>
            </a:r>
            <a:endParaRPr lang="en-US" sz="650" dirty="0"/>
          </a:p>
        </p:txBody>
      </p:sp>
      <p:sp>
        <p:nvSpPr>
          <p:cNvPr id="65" name="Shape 63"/>
          <p:cNvSpPr/>
          <p:nvPr/>
        </p:nvSpPr>
        <p:spPr>
          <a:xfrm>
            <a:off x="496119" y="4462272"/>
            <a:ext cx="8151763" cy="384048"/>
          </a:xfrm>
          <a:prstGeom prst="roundRect">
            <a:avLst>
              <a:gd name="adj" fmla="val 14270"/>
            </a:avLst>
          </a:prstGeom>
          <a:solidFill>
            <a:srgbClr val="CCF9FF"/>
          </a:solidFill>
          <a:ln/>
        </p:spPr>
      </p:sp>
      <p:pic>
        <p:nvPicPr>
          <p:cNvPr id="66" name="Image 0" descr="preencoded.png"/>
          <p:cNvPicPr>
            <a:picLocks noChangeAspect="1"/>
          </p:cNvPicPr>
          <p:nvPr/>
        </p:nvPicPr>
        <p:blipFill>
          <a:blip r:embed="rId3"/>
          <a:stretch>
            <a:fillRect/>
          </a:stretch>
        </p:blipFill>
        <p:spPr>
          <a:xfrm>
            <a:off x="582439" y="4553712"/>
            <a:ext cx="107975" cy="86320"/>
          </a:xfrm>
          <a:prstGeom prst="rect">
            <a:avLst/>
          </a:prstGeom>
        </p:spPr>
      </p:pic>
      <p:sp>
        <p:nvSpPr>
          <p:cNvPr id="67" name="Text 64"/>
          <p:cNvSpPr/>
          <p:nvPr/>
        </p:nvSpPr>
        <p:spPr>
          <a:xfrm>
            <a:off x="776734" y="4553712"/>
            <a:ext cx="8242027" cy="111175"/>
          </a:xfrm>
          <a:prstGeom prst="rect">
            <a:avLst/>
          </a:prstGeom>
          <a:noFill/>
          <a:ln/>
        </p:spPr>
        <p:txBody>
          <a:bodyPr wrap="none" lIns="0" tIns="0" rIns="0" bIns="0" rtlCol="0" anchor="t"/>
          <a:lstStyle/>
          <a:p>
            <a:pPr marL="0" indent="0" algn="l">
              <a:lnSpc>
                <a:spcPct val="107000"/>
              </a:lnSpc>
              <a:buNone/>
              <a:defRPr sz="750"/>
            </a:pPr>
            <a:r>
              <a:rPr lang="en-US" sz="650" dirty="0">
                <a:solidFill>
                  <a:srgbClr val="000000"/>
                </a:solidFill>
                <a:latin typeface="Nunito Sans" pitchFamily="34" charset="0"/>
                <a:ea typeface="Nunito Sans" pitchFamily="34" charset="-122"/>
                <a:cs typeface="Nunito Sans" pitchFamily="34" charset="-120"/>
              </a:rPr>
              <a:t>All 10 papers are organized in a professional, scan-friendly table to make thematic overlap, extracted insights, and our contribution easy to compare at a glance.</a:t>
            </a:r>
            <a:endParaRPr lang="en-US" sz="650" dirty="0"/>
          </a:p>
        </p:txBody>
      </p:sp>
      <p:graphicFrame>
        <p:nvGraphicFramePr>
          <p:cNvPr id="68" name="Table 67"/>
          <p:cNvGraphicFramePr>
            <a:graphicFrameLocks noGrp="1"/>
          </p:cNvGraphicFramePr>
          <p:nvPr/>
        </p:nvGraphicFramePr>
        <p:xfrm>
          <a:off x="493776" y="932688"/>
          <a:ext cx="8156448" cy="3291840"/>
        </p:xfrm>
        <a:graphic>
          <a:graphicData uri="http://schemas.openxmlformats.org/drawingml/2006/table">
            <a:tbl>
              <a:tblPr firstRow="1" bandRow="1">
                <a:tableStyleId>{5C22544A-7EE6-4342-B048-85BDC9FD1C3A}</a:tableStyleId>
              </a:tblPr>
              <a:tblGrid>
                <a:gridCol w="2194560"/>
                <a:gridCol w="2148840"/>
                <a:gridCol w="1783080"/>
                <a:gridCol w="2029968"/>
              </a:tblGrid>
              <a:tr h="305908">
                <a:tc>
                  <a:txBody>
                    <a:bodyPr/>
                    <a:lstStyle/>
                    <a:p>
                      <a:pPr algn="ctr">
                        <a:lnSpc>
                          <a:spcPct val="95000"/>
                        </a:lnSpc>
                        <a:defRPr sz="720" b="1">
                          <a:solidFill>
                            <a:srgbClr val="FFFFFF"/>
                          </a:solidFill>
                        </a:defRPr>
                      </a:pPr>
                      <a:r>
                        <a:t>Paper Name &amp; Citation</a:t>
                      </a:r>
                    </a:p>
                  </a:txBody>
                  <a:tcPr anchor="ctr" marL="36576" marR="36576" marT="13716" marB="13716">
                    <a:solidFill>
                      <a:srgbClr val="131B2E"/>
                    </a:solidFill>
                  </a:tcPr>
                </a:tc>
                <a:tc>
                  <a:txBody>
                    <a:bodyPr/>
                    <a:lstStyle/>
                    <a:p>
                      <a:pPr algn="ctr">
                        <a:lnSpc>
                          <a:spcPct val="95000"/>
                        </a:lnSpc>
                        <a:defRPr sz="720" b="1">
                          <a:solidFill>
                            <a:srgbClr val="FFFFFF"/>
                          </a:solidFill>
                        </a:defRPr>
                      </a:pPr>
                      <a:r>
                        <a:t>Summary of the Paper</a:t>
                      </a:r>
                    </a:p>
                  </a:txBody>
                  <a:tcPr anchor="ctr" marL="36576" marR="36576" marT="13716" marB="13716">
                    <a:solidFill>
                      <a:srgbClr val="131B2E"/>
                    </a:solidFill>
                  </a:tcPr>
                </a:tc>
                <a:tc>
                  <a:txBody>
                    <a:bodyPr/>
                    <a:lstStyle/>
                    <a:p>
                      <a:pPr algn="ctr">
                        <a:lnSpc>
                          <a:spcPct val="95000"/>
                        </a:lnSpc>
                        <a:defRPr sz="720" b="1">
                          <a:solidFill>
                            <a:srgbClr val="FFFFFF"/>
                          </a:solidFill>
                        </a:defRPr>
                      </a:pPr>
                      <a:r>
                        <a:t>What We Took from Paper</a:t>
                      </a:r>
                    </a:p>
                  </a:txBody>
                  <a:tcPr anchor="ctr" marL="36576" marR="36576" marT="13716" marB="13716">
                    <a:solidFill>
                      <a:srgbClr val="131B2E"/>
                    </a:solidFill>
                  </a:tcPr>
                </a:tc>
                <a:tc>
                  <a:txBody>
                    <a:bodyPr/>
                    <a:lstStyle/>
                    <a:p>
                      <a:pPr algn="ctr">
                        <a:lnSpc>
                          <a:spcPct val="95000"/>
                        </a:lnSpc>
                        <a:defRPr sz="720" b="1">
                          <a:solidFill>
                            <a:srgbClr val="FFFFFF"/>
                          </a:solidFill>
                        </a:defRPr>
                      </a:pPr>
                      <a:r>
                        <a:t>Our Novelty &amp; Innovation</a:t>
                      </a:r>
                    </a:p>
                  </a:txBody>
                  <a:tcPr anchor="ctr" marL="36576" marR="36576" marT="13716" marB="13716">
                    <a:solidFill>
                      <a:srgbClr val="131B2E"/>
                    </a:solidFill>
                  </a:tcPr>
                </a:tc>
              </a:tr>
              <a:tr h="305908">
                <a:tc>
                  <a:txBody>
                    <a:bodyPr/>
                    <a:lstStyle/>
                    <a:p>
                      <a:pPr algn="l">
                        <a:lnSpc>
                          <a:spcPct val="95000"/>
                        </a:lnSpc>
                        <a:defRPr sz="620" b="1">
                          <a:solidFill>
                            <a:srgbClr val="141923"/>
                          </a:solidFill>
                        </a:defRPr>
                      </a:pPr>
                      <a:r>
                        <a:t>SF-DTM (Saxena &amp; Singh, IEEE TII 2025)</a:t>
                      </a:r>
                    </a:p>
                    <a:p>
                      <a:pPr algn="l">
                        <a:lnSpc>
                          <a:spcPct val="95000"/>
                        </a:lnSpc>
                        <a:defRPr sz="620" b="1">
                          <a:solidFill>
                            <a:srgbClr val="141923"/>
                          </a:solidFill>
                        </a:defRPr>
                      </a:pPr>
                      <a:r>
                        <a:t>A Self-Healing Cloud Digital Twin Model</a:t>
                      </a:r>
                    </a:p>
                    <a:p>
                      <a:pPr algn="l">
                        <a:lnSpc>
                          <a:spcPct val="95000"/>
                        </a:lnSpc>
                        <a:defRPr sz="620" b="1">
                          <a:solidFill>
                            <a:srgbClr val="141923"/>
                          </a:solidFill>
                        </a:defRPr>
                      </a:pPr>
                      <a:r>
                        <a:t>[arXiv:2505.01215]</a:t>
                      </a:r>
                    </a:p>
                  </a:txBody>
                  <a:tcPr anchor="ctr" marL="36576" marR="36576" marT="13716" marB="13716">
                    <a:solidFill>
                      <a:srgbClr val="FFFFFF"/>
                    </a:solidFill>
                  </a:tcPr>
                </a:tc>
                <a:tc>
                  <a:txBody>
                    <a:bodyPr/>
                    <a:lstStyle/>
                    <a:p>
                      <a:pPr>
                        <a:lnSpc>
                          <a:spcPct val="95000"/>
                        </a:lnSpc>
                        <a:defRPr sz="580">
                          <a:solidFill>
                            <a:srgbClr val="141923"/>
                          </a:solidFill>
                        </a:defRPr>
                      </a:pPr>
                      <a:r>
                        <a:t>Proposes SimiFed cosine similarity with Q-learning for digital twin task resource estimation.</a:t>
                      </a:r>
                    </a:p>
                  </a:txBody>
                  <a:tcPr anchor="ctr" marL="36576" marR="36576" marT="13716" marB="13716">
                    <a:solidFill>
                      <a:srgbClr val="FFFFFF"/>
                    </a:solidFill>
                  </a:tcPr>
                </a:tc>
                <a:tc>
                  <a:txBody>
                    <a:bodyPr/>
                    <a:lstStyle/>
                    <a:p>
                      <a:pPr>
                        <a:lnSpc>
                          <a:spcPct val="95000"/>
                        </a:lnSpc>
                        <a:defRPr sz="580">
                          <a:solidFill>
                            <a:srgbClr val="141923"/>
                          </a:solidFill>
                        </a:defRPr>
                      </a:pPr>
                      <a:r>
                        <a:t>SimiFed cosine similarity &amp; state baseline concept for 3.1ms reflex decisions.</a:t>
                      </a:r>
                    </a:p>
                  </a:txBody>
                  <a:tcPr anchor="ctr" marL="36576" marR="36576" marT="13716" marB="13716">
                    <a:solidFill>
                      <a:srgbClr val="FFFFFF"/>
                    </a:solidFill>
                  </a:tcPr>
                </a:tc>
                <a:tc>
                  <a:txBody>
                    <a:bodyPr/>
                    <a:lstStyle/>
                    <a:p>
                      <a:pPr>
                        <a:lnSpc>
                          <a:spcPct val="95000"/>
                        </a:lnSpc>
                        <a:defRPr sz="580">
                          <a:solidFill>
                            <a:srgbClr val="141923"/>
                          </a:solidFill>
                        </a:defRPr>
                      </a:pPr>
                      <a:r>
                        <a:t>Augmented SimiFed with dual-agent LLM consensus &amp; SimPy safety simulation.</a:t>
                      </a:r>
                    </a:p>
                  </a:txBody>
                  <a:tcPr anchor="ctr" marL="36576" marR="36576" marT="13716" marB="13716">
                    <a:solidFill>
                      <a:srgbClr val="FFFFFF"/>
                    </a:solidFill>
                  </a:tcPr>
                </a:tc>
              </a:tr>
              <a:tr h="305908">
                <a:tc>
                  <a:txBody>
                    <a:bodyPr/>
                    <a:lstStyle/>
                    <a:p>
                      <a:pPr algn="l">
                        <a:lnSpc>
                          <a:spcPct val="95000"/>
                        </a:lnSpc>
                        <a:defRPr sz="620" b="1">
                          <a:solidFill>
                            <a:srgbClr val="141923"/>
                          </a:solidFill>
                        </a:defRPr>
                      </a:pPr>
                      <a:r>
                        <a:t>MT-SeCom (Saxena &amp; Singh, IEEE TII 2026)</a:t>
                      </a:r>
                    </a:p>
                    <a:p>
                      <a:pPr algn="l">
                        <a:lnSpc>
                          <a:spcPct val="95000"/>
                        </a:lnSpc>
                        <a:defRPr sz="620" b="1">
                          <a:solidFill>
                            <a:srgbClr val="141923"/>
                          </a:solidFill>
                        </a:defRPr>
                      </a:pPr>
                      <a:r>
                        <a:t>Trust-Driven Communication in Cloud DTs</a:t>
                      </a:r>
                    </a:p>
                    <a:p>
                      <a:pPr algn="l">
                        <a:lnSpc>
                          <a:spcPct val="95000"/>
                        </a:lnSpc>
                        <a:defRPr sz="620" b="1">
                          <a:solidFill>
                            <a:srgbClr val="141923"/>
                          </a:solidFill>
                        </a:defRPr>
                      </a:pPr>
                      <a:r>
                        <a:t>[arXiv:2605.23566]</a:t>
                      </a:r>
                    </a:p>
                  </a:txBody>
                  <a:tcPr anchor="ctr" marL="36576" marR="36576" marT="13716" marB="13716">
                    <a:solidFill>
                      <a:srgbClr val="F5F7FA"/>
                    </a:solidFill>
                  </a:tcPr>
                </a:tc>
                <a:tc>
                  <a:txBody>
                    <a:bodyPr/>
                    <a:lstStyle/>
                    <a:p>
                      <a:pPr>
                        <a:lnSpc>
                          <a:spcPct val="95000"/>
                        </a:lnSpc>
                        <a:defRPr sz="580">
                          <a:solidFill>
                            <a:srgbClr val="141923"/>
                          </a:solidFill>
                        </a:defRPr>
                      </a:pPr>
                      <a:r>
                        <a:t>Multi-factor trust monitoring combining anomaly detection with supervised client classification.</a:t>
                      </a:r>
                    </a:p>
                  </a:txBody>
                  <a:tcPr anchor="ctr" marL="36576" marR="36576" marT="13716" marB="13716">
                    <a:solidFill>
                      <a:srgbClr val="F5F7FA"/>
                    </a:solidFill>
                  </a:tcPr>
                </a:tc>
                <a:tc>
                  <a:txBody>
                    <a:bodyPr/>
                    <a:lstStyle/>
                    <a:p>
                      <a:pPr>
                        <a:lnSpc>
                          <a:spcPct val="95000"/>
                        </a:lnSpc>
                        <a:defRPr sz="580">
                          <a:solidFill>
                            <a:srgbClr val="141923"/>
                          </a:solidFill>
                        </a:defRPr>
                      </a:pPr>
                      <a:r>
                        <a:t>Multi-metric telemetry isolation &amp; anomaly signal scoring for cluster nodes.</a:t>
                      </a:r>
                    </a:p>
                  </a:txBody>
                  <a:tcPr anchor="ctr" marL="36576" marR="36576" marT="13716" marB="13716">
                    <a:solidFill>
                      <a:srgbClr val="F5F7FA"/>
                    </a:solidFill>
                  </a:tcPr>
                </a:tc>
                <a:tc>
                  <a:txBody>
                    <a:bodyPr/>
                    <a:lstStyle/>
                    <a:p>
                      <a:pPr>
                        <a:lnSpc>
                          <a:spcPct val="95000"/>
                        </a:lnSpc>
                        <a:defRPr sz="580">
                          <a:solidFill>
                            <a:srgbClr val="141923"/>
                          </a:solidFill>
                        </a:defRPr>
                      </a:pPr>
                      <a:r>
                        <a:t>Coupled anomaly classification with KernelSHAP mathematical feature attribution.</a:t>
                      </a:r>
                    </a:p>
                  </a:txBody>
                  <a:tcPr anchor="ctr" marL="36576" marR="36576" marT="13716" marB="13716">
                    <a:solidFill>
                      <a:srgbClr val="F5F7FA"/>
                    </a:solidFill>
                  </a:tcPr>
                </a:tc>
              </a:tr>
              <a:tr h="305908">
                <a:tc>
                  <a:txBody>
                    <a:bodyPr/>
                    <a:lstStyle/>
                    <a:p>
                      <a:pPr algn="l">
                        <a:lnSpc>
                          <a:spcPct val="95000"/>
                        </a:lnSpc>
                        <a:defRPr sz="620" b="1">
                          <a:solidFill>
                            <a:srgbClr val="141923"/>
                          </a:solidFill>
                        </a:defRPr>
                      </a:pPr>
                      <a:r>
                        <a:t>Fault-Tolerant Elasticity (IEEE TNSM 2023)</a:t>
                      </a:r>
                    </a:p>
                    <a:p>
                      <a:pPr algn="l">
                        <a:lnSpc>
                          <a:spcPct val="95000"/>
                        </a:lnSpc>
                        <a:defRPr sz="620" b="1">
                          <a:solidFill>
                            <a:srgbClr val="141923"/>
                          </a:solidFill>
                        </a:defRPr>
                      </a:pPr>
                      <a:r>
                        <a:t>High Availability Cloud Framework</a:t>
                      </a:r>
                    </a:p>
                    <a:p>
                      <a:pPr algn="l">
                        <a:lnSpc>
                          <a:spcPct val="95000"/>
                        </a:lnSpc>
                        <a:defRPr sz="620" b="1">
                          <a:solidFill>
                            <a:srgbClr val="141923"/>
                          </a:solidFill>
                        </a:defRPr>
                      </a:pPr>
                      <a:r>
                        <a:t>[arXiv:2212.03547]</a:t>
                      </a:r>
                    </a:p>
                  </a:txBody>
                  <a:tcPr anchor="ctr" marL="36576" marR="36576" marT="13716" marB="13716">
                    <a:solidFill>
                      <a:srgbClr val="FFFFFF"/>
                    </a:solidFill>
                  </a:tcPr>
                </a:tc>
                <a:tc>
                  <a:txBody>
                    <a:bodyPr/>
                    <a:lstStyle/>
                    <a:p>
                      <a:pPr>
                        <a:lnSpc>
                          <a:spcPct val="95000"/>
                        </a:lnSpc>
                        <a:defRPr sz="580">
                          <a:solidFill>
                            <a:srgbClr val="141923"/>
                          </a:solidFill>
                        </a:defRPr>
                      </a:pPr>
                      <a:r>
                        <a:t>Proactively allocates elastic resources under dynamic workload changes to guarantee 99.999% SLA.</a:t>
                      </a:r>
                    </a:p>
                  </a:txBody>
                  <a:tcPr anchor="ctr" marL="36576" marR="36576" marT="13716" marB="13716">
                    <a:solidFill>
                      <a:srgbClr val="FFFFFF"/>
                    </a:solidFill>
                  </a:tcPr>
                </a:tc>
                <a:tc>
                  <a:txBody>
                    <a:bodyPr/>
                    <a:lstStyle/>
                    <a:p>
                      <a:pPr>
                        <a:lnSpc>
                          <a:spcPct val="95000"/>
                        </a:lnSpc>
                        <a:defRPr sz="580">
                          <a:solidFill>
                            <a:srgbClr val="141923"/>
                          </a:solidFill>
                        </a:defRPr>
                      </a:pPr>
                      <a:r>
                        <a:t>SLA availability formulation: A = MTTF / (MTTF + MTTR) and proactive autoscaling.</a:t>
                      </a:r>
                    </a:p>
                  </a:txBody>
                  <a:tcPr anchor="ctr" marL="36576" marR="36576" marT="13716" marB="13716">
                    <a:solidFill>
                      <a:srgbClr val="FFFFFF"/>
                    </a:solidFill>
                  </a:tcPr>
                </a:tc>
                <a:tc>
                  <a:txBody>
                    <a:bodyPr/>
                    <a:lstStyle/>
                    <a:p>
                      <a:pPr>
                        <a:lnSpc>
                          <a:spcPct val="95000"/>
                        </a:lnSpc>
                        <a:defRPr sz="580">
                          <a:solidFill>
                            <a:srgbClr val="141923"/>
                          </a:solidFill>
                        </a:defRPr>
                      </a:pPr>
                      <a:r>
                        <a:t>Added upstream Shift-Left PR quality gates to prevent faults before deployment.</a:t>
                      </a:r>
                    </a:p>
                  </a:txBody>
                  <a:tcPr anchor="ctr" marL="36576" marR="36576" marT="13716" marB="13716">
                    <a:solidFill>
                      <a:srgbClr val="FFFFFF"/>
                    </a:solidFill>
                  </a:tcPr>
                </a:tc>
              </a:tr>
              <a:tr h="305908">
                <a:tc>
                  <a:txBody>
                    <a:bodyPr/>
                    <a:lstStyle/>
                    <a:p>
                      <a:pPr algn="l">
                        <a:lnSpc>
                          <a:spcPct val="95000"/>
                        </a:lnSpc>
                        <a:defRPr sz="620" b="1">
                          <a:solidFill>
                            <a:srgbClr val="141923"/>
                          </a:solidFill>
                        </a:defRPr>
                      </a:pPr>
                      <a:r>
                        <a:t>RRFT (IEEE Trans. Cloud Computing 2023)</a:t>
                      </a:r>
                    </a:p>
                    <a:p>
                      <a:pPr algn="l">
                        <a:lnSpc>
                          <a:spcPct val="95000"/>
                        </a:lnSpc>
                        <a:defRPr sz="620" b="1">
                          <a:solidFill>
                            <a:srgbClr val="141923"/>
                          </a:solidFill>
                        </a:defRPr>
                      </a:pPr>
                      <a:r>
                        <a:t>Rank-Based Fault Tolerant Strategy</a:t>
                      </a:r>
                    </a:p>
                    <a:p>
                      <a:pPr algn="l">
                        <a:lnSpc>
                          <a:spcPct val="95000"/>
                        </a:lnSpc>
                        <a:defRPr sz="620" b="1">
                          <a:solidFill>
                            <a:srgbClr val="141923"/>
                          </a:solidFill>
                        </a:defRPr>
                      </a:pPr>
                      <a:r>
                        <a:t>[arXiv:2111.00579]</a:t>
                      </a:r>
                    </a:p>
                  </a:txBody>
                  <a:tcPr anchor="ctr" marL="36576" marR="36576" marT="13716" marB="13716">
                    <a:solidFill>
                      <a:srgbClr val="F5F7FA"/>
                    </a:solidFill>
                  </a:tcPr>
                </a:tc>
                <a:tc>
                  <a:txBody>
                    <a:bodyPr/>
                    <a:lstStyle/>
                    <a:p>
                      <a:pPr>
                        <a:lnSpc>
                          <a:spcPct val="95000"/>
                        </a:lnSpc>
                        <a:defRPr sz="580">
                          <a:solidFill>
                            <a:srgbClr val="141923"/>
                          </a:solidFill>
                        </a:defRPr>
                      </a:pPr>
                      <a:r>
                        <a:t>Rank-based resource management prioritizing degraded nodes during severe cloud contention.</a:t>
                      </a:r>
                    </a:p>
                  </a:txBody>
                  <a:tcPr anchor="ctr" marL="36576" marR="36576" marT="13716" marB="13716">
                    <a:solidFill>
                      <a:srgbClr val="F5F7FA"/>
                    </a:solidFill>
                  </a:tcPr>
                </a:tc>
                <a:tc>
                  <a:txBody>
                    <a:bodyPr/>
                    <a:lstStyle/>
                    <a:p>
                      <a:pPr>
                        <a:lnSpc>
                          <a:spcPct val="95000"/>
                        </a:lnSpc>
                        <a:defRPr sz="580">
                          <a:solidFill>
                            <a:srgbClr val="141923"/>
                          </a:solidFill>
                        </a:defRPr>
                      </a:pPr>
                      <a:r>
                        <a:t>Heuristic priority ranking for microservice failure remediation.</a:t>
                      </a:r>
                    </a:p>
                  </a:txBody>
                  <a:tcPr anchor="ctr" marL="36576" marR="36576" marT="13716" marB="13716">
                    <a:solidFill>
                      <a:srgbClr val="F5F7FA"/>
                    </a:solidFill>
                  </a:tcPr>
                </a:tc>
                <a:tc>
                  <a:txBody>
                    <a:bodyPr/>
                    <a:lstStyle/>
                    <a:p>
                      <a:pPr>
                        <a:lnSpc>
                          <a:spcPct val="95000"/>
                        </a:lnSpc>
                        <a:defRPr sz="580">
                          <a:solidFill>
                            <a:srgbClr val="141923"/>
                          </a:solidFill>
                        </a:defRPr>
                      </a:pPr>
                      <a:r>
                        <a:t>Replaced static ranking with dynamic Q-table RL policy for adaptive recovery.</a:t>
                      </a:r>
                    </a:p>
                  </a:txBody>
                  <a:tcPr anchor="ctr" marL="36576" marR="36576" marT="13716" marB="13716">
                    <a:solidFill>
                      <a:srgbClr val="F5F7FA"/>
                    </a:solidFill>
                  </a:tcPr>
                </a:tc>
              </a:tr>
              <a:tr h="305908">
                <a:tc>
                  <a:txBody>
                    <a:bodyPr/>
                    <a:lstStyle/>
                    <a:p>
                      <a:pPr algn="l">
                        <a:lnSpc>
                          <a:spcPct val="95000"/>
                        </a:lnSpc>
                        <a:defRPr sz="620" b="1">
                          <a:solidFill>
                            <a:srgbClr val="141923"/>
                          </a:solidFill>
                        </a:defRPr>
                      </a:pPr>
                      <a:r>
                        <a:t>Adaptive AIoT Digital Twin (IEEE IoT-J 2024)</a:t>
                      </a:r>
                    </a:p>
                    <a:p>
                      <a:pPr algn="l">
                        <a:lnSpc>
                          <a:spcPct val="95000"/>
                        </a:lnSpc>
                        <a:defRPr sz="620" b="1">
                          <a:solidFill>
                            <a:srgbClr val="141923"/>
                          </a:solidFill>
                        </a:defRPr>
                      </a:pPr>
                      <a:r>
                        <a:t>Device-Edge Collaboration</a:t>
                      </a:r>
                    </a:p>
                    <a:p>
                      <a:pPr algn="l">
                        <a:lnSpc>
                          <a:spcPct val="95000"/>
                        </a:lnSpc>
                        <a:defRPr sz="620" b="1">
                          <a:solidFill>
                            <a:srgbClr val="141923"/>
                          </a:solidFill>
                        </a:defRPr>
                      </a:pPr>
                      <a:r>
                        <a:t>[arXiv:2405.17664]</a:t>
                      </a:r>
                    </a:p>
                  </a:txBody>
                  <a:tcPr anchor="ctr" marL="36576" marR="36576" marT="13716" marB="13716">
                    <a:solidFill>
                      <a:srgbClr val="FFFFFF"/>
                    </a:solidFill>
                  </a:tcPr>
                </a:tc>
                <a:tc>
                  <a:txBody>
                    <a:bodyPr/>
                    <a:lstStyle/>
                    <a:p>
                      <a:pPr>
                        <a:lnSpc>
                          <a:spcPct val="95000"/>
                        </a:lnSpc>
                        <a:defRPr sz="580">
                          <a:solidFill>
                            <a:srgbClr val="141923"/>
                          </a:solidFill>
                        </a:defRPr>
                      </a:pPr>
                      <a:r>
                        <a:t>Maintains virtual synchronized digital twins to mirror physical runtime telemetry &amp; latency.</a:t>
                      </a:r>
                    </a:p>
                  </a:txBody>
                  <a:tcPr anchor="ctr" marL="36576" marR="36576" marT="13716" marB="13716">
                    <a:solidFill>
                      <a:srgbClr val="FFFFFF"/>
                    </a:solidFill>
                  </a:tcPr>
                </a:tc>
                <a:tc>
                  <a:txBody>
                    <a:bodyPr/>
                    <a:lstStyle/>
                    <a:p>
                      <a:pPr>
                        <a:lnSpc>
                          <a:spcPct val="95000"/>
                        </a:lnSpc>
                        <a:defRPr sz="580">
                          <a:solidFill>
                            <a:srgbClr val="141923"/>
                          </a:solidFill>
                        </a:defRPr>
                      </a:pPr>
                      <a:r>
                        <a:t>Real-time Digital Twin synchronization (TDTdb) mirroring active container states.</a:t>
                      </a:r>
                    </a:p>
                  </a:txBody>
                  <a:tcPr anchor="ctr" marL="36576" marR="36576" marT="13716" marB="13716">
                    <a:solidFill>
                      <a:srgbClr val="FFFFFF"/>
                    </a:solidFill>
                  </a:tcPr>
                </a:tc>
                <a:tc>
                  <a:txBody>
                    <a:bodyPr/>
                    <a:lstStyle/>
                    <a:p>
                      <a:pPr>
                        <a:lnSpc>
                          <a:spcPct val="95000"/>
                        </a:lnSpc>
                        <a:defRPr sz="580">
                          <a:solidFill>
                            <a:srgbClr val="141923"/>
                          </a:solidFill>
                        </a:defRPr>
                      </a:pPr>
                      <a:r>
                        <a:t>Integrated with 4-tier Google Online Boutique microservice dependency DAG.</a:t>
                      </a:r>
                    </a:p>
                  </a:txBody>
                  <a:tcPr anchor="ctr" marL="36576" marR="36576" marT="13716" marB="13716">
                    <a:solidFill>
                      <a:srgbClr val="FFFFFF"/>
                    </a:solidFill>
                  </a:tcPr>
                </a:tc>
              </a:tr>
              <a:tr h="305908">
                <a:tc>
                  <a:txBody>
                    <a:bodyPr/>
                    <a:lstStyle/>
                    <a:p>
                      <a:pPr algn="l">
                        <a:lnSpc>
                          <a:spcPct val="95000"/>
                        </a:lnSpc>
                        <a:defRPr sz="620" b="1">
                          <a:solidFill>
                            <a:srgbClr val="141923"/>
                          </a:solidFill>
                        </a:defRPr>
                      </a:pPr>
                      <a:r>
                        <a:t>Multi-Expert Consensus (JAISE 2026)</a:t>
                      </a:r>
                    </a:p>
                    <a:p>
                      <a:pPr algn="l">
                        <a:lnSpc>
                          <a:spcPct val="95000"/>
                        </a:lnSpc>
                        <a:defRPr sz="620" b="1">
                          <a:solidFill>
                            <a:srgbClr val="141923"/>
                          </a:solidFill>
                        </a:defRPr>
                      </a:pPr>
                      <a:r>
                        <a:t>Auto-Scaling Serverless Systems</a:t>
                      </a:r>
                    </a:p>
                    <a:p>
                      <a:pPr algn="l">
                        <a:lnSpc>
                          <a:spcPct val="95000"/>
                        </a:lnSpc>
                        <a:defRPr sz="620" b="1">
                          <a:solidFill>
                            <a:srgbClr val="141923"/>
                          </a:solidFill>
                        </a:defRPr>
                      </a:pPr>
                      <a:r>
                        <a:t>[arXiv:2607.15511]</a:t>
                      </a:r>
                    </a:p>
                  </a:txBody>
                  <a:tcPr anchor="ctr" marL="36576" marR="36576" marT="13716" marB="13716">
                    <a:solidFill>
                      <a:srgbClr val="F5F7FA"/>
                    </a:solidFill>
                  </a:tcPr>
                </a:tc>
                <a:tc>
                  <a:txBody>
                    <a:bodyPr/>
                    <a:lstStyle/>
                    <a:p>
                      <a:pPr>
                        <a:lnSpc>
                          <a:spcPct val="95000"/>
                        </a:lnSpc>
                        <a:defRPr sz="580">
                          <a:solidFill>
                            <a:srgbClr val="141923"/>
                          </a:solidFill>
                        </a:defRPr>
                      </a:pPr>
                      <a:r>
                        <a:t>Uses multi-expert voting mechanisms to prevent autoscaling thrashing and oscillation.</a:t>
                      </a:r>
                    </a:p>
                  </a:txBody>
                  <a:tcPr anchor="ctr" marL="36576" marR="36576" marT="13716" marB="13716">
                    <a:solidFill>
                      <a:srgbClr val="F5F7FA"/>
                    </a:solidFill>
                  </a:tcPr>
                </a:tc>
                <a:tc>
                  <a:txBody>
                    <a:bodyPr/>
                    <a:lstStyle/>
                    <a:p>
                      <a:pPr>
                        <a:lnSpc>
                          <a:spcPct val="95000"/>
                        </a:lnSpc>
                        <a:defRPr sz="580">
                          <a:solidFill>
                            <a:srgbClr val="141923"/>
                          </a:solidFill>
                        </a:defRPr>
                      </a:pPr>
                      <a:r>
                        <a:t>Multi-agent agreement voting framework for autonomous infrastructure operations.</a:t>
                      </a:r>
                    </a:p>
                  </a:txBody>
                  <a:tcPr anchor="ctr" marL="36576" marR="36576" marT="13716" marB="13716">
                    <a:solidFill>
                      <a:srgbClr val="F5F7FA"/>
                    </a:solidFill>
                  </a:tcPr>
                </a:tc>
                <a:tc>
                  <a:txBody>
                    <a:bodyPr/>
                    <a:lstStyle/>
                    <a:p>
                      <a:pPr>
                        <a:lnSpc>
                          <a:spcPct val="95000"/>
                        </a:lnSpc>
                        <a:defRPr sz="580">
                          <a:solidFill>
                            <a:srgbClr val="141923"/>
                          </a:solidFill>
                        </a:defRPr>
                      </a:pPr>
                      <a:r>
                        <a:t>Engineered Dual-Agent Consensus combining SimiFed RL with Gemini 3.6 ReAct.</a:t>
                      </a:r>
                    </a:p>
                  </a:txBody>
                  <a:tcPr anchor="ctr" marL="36576" marR="36576" marT="13716" marB="13716">
                    <a:solidFill>
                      <a:srgbClr val="F5F7FA"/>
                    </a:solidFill>
                  </a:tcPr>
                </a:tc>
              </a:tr>
              <a:tr h="305908">
                <a:tc>
                  <a:txBody>
                    <a:bodyPr/>
                    <a:lstStyle/>
                    <a:p>
                      <a:pPr algn="l">
                        <a:lnSpc>
                          <a:spcPct val="95000"/>
                        </a:lnSpc>
                        <a:defRPr sz="620" b="1">
                          <a:solidFill>
                            <a:srgbClr val="141923"/>
                          </a:solidFill>
                        </a:defRPr>
                      </a:pPr>
                      <a:r>
                        <a:t>SQUIRO (Elsevier FGCS 2026)</a:t>
                      </a:r>
                    </a:p>
                    <a:p>
                      <a:pPr algn="l">
                        <a:lnSpc>
                          <a:spcPct val="95000"/>
                        </a:lnSpc>
                        <a:defRPr sz="620" b="1">
                          <a:solidFill>
                            <a:srgbClr val="141923"/>
                          </a:solidFill>
                        </a:defRPr>
                      </a:pPr>
                      <a:r>
                        <a:t>Security-Aware Scheduling on K8s</a:t>
                      </a:r>
                    </a:p>
                    <a:p>
                      <a:pPr algn="l">
                        <a:lnSpc>
                          <a:spcPct val="95000"/>
                        </a:lnSpc>
                        <a:defRPr sz="620" b="1">
                          <a:solidFill>
                            <a:srgbClr val="141923"/>
                          </a:solidFill>
                        </a:defRPr>
                      </a:pPr>
                      <a:r>
                        <a:t>[arXiv:2607.16089]</a:t>
                      </a:r>
                    </a:p>
                  </a:txBody>
                  <a:tcPr anchor="ctr" marL="36576" marR="36576" marT="13716" marB="13716">
                    <a:solidFill>
                      <a:srgbClr val="FFFFFF"/>
                    </a:solidFill>
                  </a:tcPr>
                </a:tc>
                <a:tc>
                  <a:txBody>
                    <a:bodyPr/>
                    <a:lstStyle/>
                    <a:p>
                      <a:pPr>
                        <a:lnSpc>
                          <a:spcPct val="95000"/>
                        </a:lnSpc>
                        <a:defRPr sz="580">
                          <a:solidFill>
                            <a:srgbClr val="141923"/>
                          </a:solidFill>
                        </a:defRPr>
                      </a:pPr>
                      <a:r>
                        <a:t>Enforces security policies &amp; quality admission gates on Kubernetes workloads.</a:t>
                      </a:r>
                    </a:p>
                  </a:txBody>
                  <a:tcPr anchor="ctr" marL="36576" marR="36576" marT="13716" marB="13716">
                    <a:solidFill>
                      <a:srgbClr val="FFFFFF"/>
                    </a:solidFill>
                  </a:tcPr>
                </a:tc>
                <a:tc>
                  <a:txBody>
                    <a:bodyPr/>
                    <a:lstStyle/>
                    <a:p>
                      <a:pPr>
                        <a:lnSpc>
                          <a:spcPct val="95000"/>
                        </a:lnSpc>
                        <a:defRPr sz="580">
                          <a:solidFill>
                            <a:srgbClr val="141923"/>
                          </a:solidFill>
                        </a:defRPr>
                      </a:pPr>
                      <a:r>
                        <a:t>Quality gate admission blocker intercepting unverified deployment artifacts.</a:t>
                      </a:r>
                    </a:p>
                  </a:txBody>
                  <a:tcPr anchor="ctr" marL="36576" marR="36576" marT="13716" marB="13716">
                    <a:solidFill>
                      <a:srgbClr val="FFFFFF"/>
                    </a:solidFill>
                  </a:tcPr>
                </a:tc>
                <a:tc>
                  <a:txBody>
                    <a:bodyPr/>
                    <a:lstStyle/>
                    <a:p>
                      <a:pPr>
                        <a:lnSpc>
                          <a:spcPct val="95000"/>
                        </a:lnSpc>
                        <a:defRPr sz="580">
                          <a:solidFill>
                            <a:srgbClr val="141923"/>
                          </a:solidFill>
                        </a:defRPr>
                      </a:pPr>
                      <a:r>
                        <a:t>Built 11-stage Shift-Left GitHub App check runs blocking critical vulnerabilities.</a:t>
                      </a:r>
                    </a:p>
                  </a:txBody>
                  <a:tcPr anchor="ctr" marL="36576" marR="36576" marT="13716" marB="13716">
                    <a:solidFill>
                      <a:srgbClr val="FFFFFF"/>
                    </a:solidFill>
                  </a:tcPr>
                </a:tc>
              </a:tr>
              <a:tr h="305908">
                <a:tc>
                  <a:txBody>
                    <a:bodyPr/>
                    <a:lstStyle/>
                    <a:p>
                      <a:pPr algn="l">
                        <a:lnSpc>
                          <a:spcPct val="95000"/>
                        </a:lnSpc>
                        <a:defRPr sz="620" b="1">
                          <a:solidFill>
                            <a:srgbClr val="141923"/>
                          </a:solidFill>
                        </a:defRPr>
                      </a:pPr>
                      <a:r>
                        <a:t>Consensus In Asynchrony (Taylor &amp; Francis 2026)</a:t>
                      </a:r>
                    </a:p>
                    <a:p>
                      <a:pPr algn="l">
                        <a:lnSpc>
                          <a:spcPct val="95000"/>
                        </a:lnSpc>
                        <a:defRPr sz="620" b="1">
                          <a:solidFill>
                            <a:srgbClr val="141923"/>
                          </a:solidFill>
                        </a:defRPr>
                      </a:pPr>
                      <a:r>
                        <a:t>Formal Distributed Consensus</a:t>
                      </a:r>
                    </a:p>
                    <a:p>
                      <a:pPr algn="l">
                        <a:lnSpc>
                          <a:spcPct val="95000"/>
                        </a:lnSpc>
                        <a:defRPr sz="620" b="1">
                          <a:solidFill>
                            <a:srgbClr val="141923"/>
                          </a:solidFill>
                        </a:defRPr>
                      </a:pPr>
                      <a:r>
                        <a:t>[arXiv:2607.24095]</a:t>
                      </a:r>
                    </a:p>
                  </a:txBody>
                  <a:tcPr anchor="ctr" marL="36576" marR="36576" marT="13716" marB="13716">
                    <a:solidFill>
                      <a:srgbClr val="F5F7FA"/>
                    </a:solidFill>
                  </a:tcPr>
                </a:tc>
                <a:tc>
                  <a:txBody>
                    <a:bodyPr/>
                    <a:lstStyle/>
                    <a:p>
                      <a:pPr>
                        <a:lnSpc>
                          <a:spcPct val="95000"/>
                        </a:lnSpc>
                        <a:defRPr sz="580">
                          <a:solidFill>
                            <a:srgbClr val="141923"/>
                          </a:solidFill>
                        </a:defRPr>
                      </a:pPr>
                      <a:r>
                        <a:t>Formal mathematical proofs for consensus reaching under asynchronous network delays.</a:t>
                      </a:r>
                    </a:p>
                  </a:txBody>
                  <a:tcPr anchor="ctr" marL="36576" marR="36576" marT="13716" marB="13716">
                    <a:solidFill>
                      <a:srgbClr val="F5F7FA"/>
                    </a:solidFill>
                  </a:tcPr>
                </a:tc>
                <a:tc>
                  <a:txBody>
                    <a:bodyPr/>
                    <a:lstStyle/>
                    <a:p>
                      <a:pPr>
                        <a:lnSpc>
                          <a:spcPct val="95000"/>
                        </a:lnSpc>
                        <a:defRPr sz="580">
                          <a:solidFill>
                            <a:srgbClr val="141923"/>
                          </a:solidFill>
                        </a:defRPr>
                      </a:pPr>
                      <a:r>
                        <a:t>Consensus thresholds and timeout fallbacks for distributed agent coordination.</a:t>
                      </a:r>
                    </a:p>
                  </a:txBody>
                  <a:tcPr anchor="ctr" marL="36576" marR="36576" marT="13716" marB="13716">
                    <a:solidFill>
                      <a:srgbClr val="F5F7FA"/>
                    </a:solidFill>
                  </a:tcPr>
                </a:tc>
                <a:tc>
                  <a:txBody>
                    <a:bodyPr/>
                    <a:lstStyle/>
                    <a:p>
                      <a:pPr>
                        <a:lnSpc>
                          <a:spcPct val="95000"/>
                        </a:lnSpc>
                        <a:defRPr sz="580">
                          <a:solidFill>
                            <a:srgbClr val="141923"/>
                          </a:solidFill>
                        </a:defRPr>
                      </a:pPr>
                      <a:r>
                        <a:t>Implemented 5.0s asynchronous ReAct timeout with automatic RL reflex fallback.</a:t>
                      </a:r>
                    </a:p>
                  </a:txBody>
                  <a:tcPr anchor="ctr" marL="36576" marR="36576" marT="13716" marB="13716">
                    <a:solidFill>
                      <a:srgbClr val="F5F7FA"/>
                    </a:solidFill>
                  </a:tcPr>
                </a:tc>
              </a:tr>
              <a:tr h="305908">
                <a:tc>
                  <a:txBody>
                    <a:bodyPr/>
                    <a:lstStyle/>
                    <a:p>
                      <a:pPr algn="l">
                        <a:lnSpc>
                          <a:spcPct val="95000"/>
                        </a:lnSpc>
                        <a:defRPr sz="620" b="1">
                          <a:solidFill>
                            <a:srgbClr val="141923"/>
                          </a:solidFill>
                        </a:defRPr>
                      </a:pPr>
                      <a:r>
                        <a:t>Cold-Start Model Delivery (IEEE Access 2026)</a:t>
                      </a:r>
                    </a:p>
                    <a:p>
                      <a:pPr algn="l">
                        <a:lnSpc>
                          <a:spcPct val="95000"/>
                        </a:lnSpc>
                        <a:defRPr sz="620" b="1">
                          <a:solidFill>
                            <a:srgbClr val="141923"/>
                          </a:solidFill>
                        </a:defRPr>
                      </a:pPr>
                      <a:r>
                        <a:t>Kubernetes Inference Serving</a:t>
                      </a:r>
                    </a:p>
                    <a:p>
                      <a:pPr algn="l">
                        <a:lnSpc>
                          <a:spcPct val="95000"/>
                        </a:lnSpc>
                        <a:defRPr sz="620" b="1">
                          <a:solidFill>
                            <a:srgbClr val="141923"/>
                          </a:solidFill>
                        </a:defRPr>
                      </a:pPr>
                      <a:r>
                        <a:t>[arXiv:2607.16596]</a:t>
                      </a:r>
                    </a:p>
                  </a:txBody>
                  <a:tcPr anchor="ctr" marL="36576" marR="36576" marT="13716" marB="13716">
                    <a:solidFill>
                      <a:srgbClr val="FFFFFF"/>
                    </a:solidFill>
                  </a:tcPr>
                </a:tc>
                <a:tc>
                  <a:txBody>
                    <a:bodyPr/>
                    <a:lstStyle/>
                    <a:p>
                      <a:pPr>
                        <a:lnSpc>
                          <a:spcPct val="95000"/>
                        </a:lnSpc>
                        <a:defRPr sz="580">
                          <a:solidFill>
                            <a:srgbClr val="141923"/>
                          </a:solidFill>
                        </a:defRPr>
                      </a:pPr>
                      <a:r>
                        <a:t>Analyzes container distribution latency and integrity for sub-second recovery.</a:t>
                      </a:r>
                    </a:p>
                  </a:txBody>
                  <a:tcPr anchor="ctr" marL="36576" marR="36576" marT="13716" marB="13716">
                    <a:solidFill>
                      <a:srgbClr val="FFFFFF"/>
                    </a:solidFill>
                  </a:tcPr>
                </a:tc>
                <a:tc>
                  <a:txBody>
                    <a:bodyPr/>
                    <a:lstStyle/>
                    <a:p>
                      <a:pPr>
                        <a:lnSpc>
                          <a:spcPct val="95000"/>
                        </a:lnSpc>
                        <a:defRPr sz="580">
                          <a:solidFill>
                            <a:srgbClr val="141923"/>
                          </a:solidFill>
                        </a:defRPr>
                      </a:pPr>
                      <a:r>
                        <a:t>OCI image layer caching and rapid Kubernetes container actuation mechanics.</a:t>
                      </a:r>
                    </a:p>
                  </a:txBody>
                  <a:tcPr anchor="ctr" marL="36576" marR="36576" marT="13716" marB="13716">
                    <a:solidFill>
                      <a:srgbClr val="FFFFFF"/>
                    </a:solidFill>
                  </a:tcPr>
                </a:tc>
                <a:tc>
                  <a:txBody>
                    <a:bodyPr/>
                    <a:lstStyle/>
                    <a:p>
                      <a:pPr>
                        <a:lnSpc>
                          <a:spcPct val="95000"/>
                        </a:lnSpc>
                        <a:defRPr sz="580">
                          <a:solidFill>
                            <a:srgbClr val="141923"/>
                          </a:solidFill>
                        </a:defRPr>
                      </a:pPr>
                      <a:r>
                        <a:t>Sub-second pod restart &amp; scaling actuation via official Kubernetes Python SDK.</a:t>
                      </a:r>
                    </a:p>
                  </a:txBody>
                  <a:tcPr anchor="ctr" marL="36576" marR="36576" marT="13716" marB="13716">
                    <a:solidFill>
                      <a:srgbClr val="FFFFFF"/>
                    </a:solidFill>
                  </a:tcPr>
                </a:tc>
              </a:tr>
              <a:tr h="305912">
                <a:tc>
                  <a:txBody>
                    <a:bodyPr/>
                    <a:lstStyle/>
                    <a:p>
                      <a:pPr algn="l">
                        <a:lnSpc>
                          <a:spcPct val="95000"/>
                        </a:lnSpc>
                        <a:defRPr sz="620" b="1">
                          <a:solidFill>
                            <a:srgbClr val="141923"/>
                          </a:solidFill>
                        </a:defRPr>
                      </a:pPr>
                      <a:r>
                        <a:t>Hybrid Service Placement (Springer 2026)</a:t>
                      </a:r>
                    </a:p>
                    <a:p>
                      <a:pPr algn="l">
                        <a:lnSpc>
                          <a:spcPct val="95000"/>
                        </a:lnSpc>
                        <a:defRPr sz="620" b="1">
                          <a:solidFill>
                            <a:srgbClr val="141923"/>
                          </a:solidFill>
                        </a:defRPr>
                      </a:pPr>
                      <a:r>
                        <a:t>Continuum Multi-Objective Optimization</a:t>
                      </a:r>
                    </a:p>
                    <a:p>
                      <a:pPr algn="l">
                        <a:lnSpc>
                          <a:spcPct val="95000"/>
                        </a:lnSpc>
                        <a:defRPr sz="620" b="1">
                          <a:solidFill>
                            <a:srgbClr val="141923"/>
                          </a:solidFill>
                        </a:defRPr>
                      </a:pPr>
                      <a:r>
                        <a:t>[arXiv:2607.13200]</a:t>
                      </a:r>
                    </a:p>
                  </a:txBody>
                  <a:tcPr anchor="ctr" marL="36576" marR="36576" marT="13716" marB="13716">
                    <a:solidFill>
                      <a:srgbClr val="F5F7FA"/>
                    </a:solidFill>
                  </a:tcPr>
                </a:tc>
                <a:tc>
                  <a:txBody>
                    <a:bodyPr/>
                    <a:lstStyle/>
                    <a:p>
                      <a:pPr>
                        <a:lnSpc>
                          <a:spcPct val="95000"/>
                        </a:lnSpc>
                        <a:defRPr sz="580">
                          <a:solidFill>
                            <a:srgbClr val="141923"/>
                          </a:solidFill>
                        </a:defRPr>
                      </a:pPr>
                      <a:r>
                        <a:t>Multi-objective Pareto optimization balancing latency, compute cost, and availability.</a:t>
                      </a:r>
                    </a:p>
                  </a:txBody>
                  <a:tcPr anchor="ctr" marL="36576" marR="36576" marT="13716" marB="13716">
                    <a:solidFill>
                      <a:srgbClr val="F5F7FA"/>
                    </a:solidFill>
                  </a:tcPr>
                </a:tc>
                <a:tc>
                  <a:txBody>
                    <a:bodyPr/>
                    <a:lstStyle/>
                    <a:p>
                      <a:pPr>
                        <a:lnSpc>
                          <a:spcPct val="95000"/>
                        </a:lnSpc>
                        <a:defRPr sz="580">
                          <a:solidFill>
                            <a:srgbClr val="141923"/>
                          </a:solidFill>
                        </a:defRPr>
                      </a:pPr>
                      <a:r>
                        <a:t>Multi-objective optimization objectives for evaluating self-healing trade-offs.</a:t>
                      </a:r>
                    </a:p>
                  </a:txBody>
                  <a:tcPr anchor="ctr" marL="36576" marR="36576" marT="13716" marB="13716">
                    <a:solidFill>
                      <a:srgbClr val="F5F7FA"/>
                    </a:solidFill>
                  </a:tcPr>
                </a:tc>
                <a:tc>
                  <a:txBody>
                    <a:bodyPr/>
                    <a:lstStyle/>
                    <a:p>
                      <a:pPr>
                        <a:lnSpc>
                          <a:spcPct val="95000"/>
                        </a:lnSpc>
                        <a:defRPr sz="580">
                          <a:solidFill>
                            <a:srgbClr val="141923"/>
                          </a:solidFill>
                        </a:defRPr>
                      </a:pPr>
                      <a:r>
                        <a:t>Integrated SimPy M/M/c queuing dry-run simulation to validate SLOs in 0.01s.</a:t>
                      </a:r>
                    </a:p>
                  </a:txBody>
                  <a:tcPr anchor="ctr" marL="36576" marR="36576" marT="13716" marB="13716">
                    <a:solidFill>
                      <a:srgbClr val="F5F7FA"/>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96118" y="244531"/>
            <a:ext cx="8151763" cy="442987"/>
          </a:xfrm>
          <a:prstGeom prst="rect">
            <a:avLst/>
          </a:prstGeom>
          <a:noFill/>
          <a:ln/>
        </p:spPr>
        <p:txBody>
          <a:bodyPr wrap="none" lIns="0" tIns="0" rIns="0" bIns="0" rtlCol="0" anchor="t"/>
          <a:lstStyle/>
          <a:p>
            <a:pPr marL="0" indent="0" algn="l">
              <a:lnSpc>
                <a:spcPct val="104000"/>
              </a:lnSpc>
              <a:buNone/>
            </a:pPr>
            <a:r>
              <a:rPr lang="en-US" sz="2750" dirty="0">
                <a:solidFill>
                  <a:srgbClr val="000000"/>
                </a:solidFill>
                <a:latin typeface="Montserrat SemiBold" pitchFamily="34" charset="0"/>
                <a:ea typeface="Montserrat SemiBold" pitchFamily="34" charset="-122"/>
                <a:cs typeface="Montserrat SemiBold" pitchFamily="34" charset="-120"/>
              </a:rPr>
              <a:t>System Architecture Overview</a:t>
            </a:r>
            <a:endParaRPr lang="en-US" sz="2750" dirty="0"/>
          </a:p>
        </p:txBody>
      </p:sp>
      <p:pic>
        <p:nvPicPr>
          <p:cNvPr id="3" name="Image 0" descr="preencoded.png"/>
          <p:cNvPicPr>
            <a:picLocks noChangeAspect="1"/>
          </p:cNvPicPr>
          <p:nvPr/>
        </p:nvPicPr>
        <p:blipFill>
          <a:blip r:embed="rId3"/>
          <a:stretch>
            <a:fillRect/>
          </a:stretch>
        </p:blipFill>
        <p:spPr>
          <a:xfrm>
            <a:off x="595764" y="832870"/>
            <a:ext cx="7100229" cy="389153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96119" y="490910"/>
            <a:ext cx="8151763" cy="352946"/>
          </a:xfrm>
          <a:prstGeom prst="rect">
            <a:avLst/>
          </a:prstGeom>
          <a:noFill/>
          <a:ln/>
        </p:spPr>
        <p:txBody>
          <a:bodyPr wrap="none" lIns="0" tIns="0" rIns="0" bIns="0" rtlCol="0" anchor="t"/>
          <a:lstStyle/>
          <a:p>
            <a:pPr marL="0" indent="0" algn="l">
              <a:lnSpc>
                <a:spcPct val="104000"/>
              </a:lnSpc>
              <a:buNone/>
            </a:pPr>
            <a:r>
              <a:rPr lang="en-US" sz="2200" dirty="0">
                <a:solidFill>
                  <a:srgbClr val="000000"/>
                </a:solidFill>
                <a:latin typeface="Montserrat SemiBold" pitchFamily="34" charset="0"/>
                <a:ea typeface="Montserrat SemiBold" pitchFamily="34" charset="-122"/>
                <a:cs typeface="Montserrat SemiBold" pitchFamily="34" charset="-120"/>
              </a:rPr>
              <a:t>Proactive Code Quality &amp; Security Gates</a:t>
            </a:r>
            <a:endParaRPr lang="en-US" sz="2200" dirty="0"/>
          </a:p>
        </p:txBody>
      </p:sp>
      <p:sp>
        <p:nvSpPr>
          <p:cNvPr id="3" name="Text 1"/>
          <p:cNvSpPr/>
          <p:nvPr/>
        </p:nvSpPr>
        <p:spPr>
          <a:xfrm>
            <a:off x="496119" y="1023863"/>
            <a:ext cx="8608963" cy="162371"/>
          </a:xfrm>
          <a:prstGeom prst="rect">
            <a:avLst/>
          </a:prstGeom>
          <a:noFill/>
          <a:ln/>
        </p:spPr>
        <p:txBody>
          <a:bodyPr wrap="none" lIns="0" tIns="0" rIns="0" bIns="0" rtlCol="0" anchor="t"/>
          <a:lstStyle/>
          <a:p>
            <a:pPr marL="0" indent="0" algn="l">
              <a:lnSpc>
                <a:spcPct val="120000"/>
              </a:lnSpc>
              <a:buNone/>
            </a:pPr>
            <a:r>
              <a:rPr lang="en-US" sz="850" b="1" dirty="0">
                <a:solidFill>
                  <a:srgbClr val="000000"/>
                </a:solidFill>
                <a:latin typeface="Nunito Sans Bold" pitchFamily="34" charset="0"/>
                <a:ea typeface="Nunito Sans Bold" pitchFamily="34" charset="-122"/>
                <a:cs typeface="Nunito Sans Bold" pitchFamily="34" charset="-120"/>
              </a:rPr>
              <a:t>How the Agent Protects Code Before Deployment</a:t>
            </a:r>
            <a:r>
              <a:rPr lang="en-US" sz="850" dirty="0">
                <a:solidFill>
                  <a:srgbClr val="000000"/>
                </a:solidFill>
                <a:latin typeface="Nunito Sans" pitchFamily="34" charset="0"/>
                <a:ea typeface="Nunito Sans" pitchFamily="34" charset="-122"/>
                <a:cs typeface="Nunito Sans" pitchFamily="34" charset="-120"/>
              </a:rPr>
              <a:t> — simple step-by-step methodology</a:t>
            </a:r>
            <a:endParaRPr lang="en-US" sz="850" dirty="0"/>
          </a:p>
        </p:txBody>
      </p:sp>
      <p:sp>
        <p:nvSpPr>
          <p:cNvPr id="4" name="Shape 2"/>
          <p:cNvSpPr/>
          <p:nvPr/>
        </p:nvSpPr>
        <p:spPr>
          <a:xfrm>
            <a:off x="623143" y="1287438"/>
            <a:ext cx="14288" cy="3365153"/>
          </a:xfrm>
          <a:prstGeom prst="roundRect">
            <a:avLst>
              <a:gd name="adj" fmla="val 49998"/>
            </a:avLst>
          </a:prstGeom>
          <a:solidFill>
            <a:srgbClr val="B2DFE5"/>
          </a:solidFill>
          <a:ln/>
        </p:spPr>
      </p:sp>
      <p:sp>
        <p:nvSpPr>
          <p:cNvPr id="5" name="Shape 3"/>
          <p:cNvSpPr/>
          <p:nvPr/>
        </p:nvSpPr>
        <p:spPr>
          <a:xfrm>
            <a:off x="735918" y="1407319"/>
            <a:ext cx="338882" cy="14288"/>
          </a:xfrm>
          <a:prstGeom prst="roundRect">
            <a:avLst>
              <a:gd name="adj" fmla="val 49998"/>
            </a:avLst>
          </a:prstGeom>
          <a:solidFill>
            <a:srgbClr val="B2DFE5"/>
          </a:solidFill>
          <a:ln/>
        </p:spPr>
      </p:sp>
      <p:sp>
        <p:nvSpPr>
          <p:cNvPr id="6" name="Shape 4"/>
          <p:cNvSpPr/>
          <p:nvPr/>
        </p:nvSpPr>
        <p:spPr>
          <a:xfrm>
            <a:off x="496081" y="1287438"/>
            <a:ext cx="254124" cy="254124"/>
          </a:xfrm>
          <a:prstGeom prst="roundRect">
            <a:avLst>
              <a:gd name="adj" fmla="val 18671"/>
            </a:avLst>
          </a:prstGeom>
          <a:solidFill>
            <a:srgbClr val="CCF9FF"/>
          </a:solidFill>
          <a:ln w="4763">
            <a:solidFill>
              <a:srgbClr val="B2DFE5"/>
            </a:solidFill>
            <a:prstDash val="solid"/>
          </a:ln>
        </p:spPr>
      </p:sp>
      <p:sp>
        <p:nvSpPr>
          <p:cNvPr id="7" name="Text 5"/>
          <p:cNvSpPr/>
          <p:nvPr/>
        </p:nvSpPr>
        <p:spPr>
          <a:xfrm>
            <a:off x="538386" y="1308571"/>
            <a:ext cx="169441" cy="211782"/>
          </a:xfrm>
          <a:prstGeom prst="rect">
            <a:avLst/>
          </a:prstGeom>
          <a:noFill/>
          <a:ln/>
        </p:spPr>
        <p:txBody>
          <a:bodyPr wrap="none" lIns="0" tIns="0" rIns="0" bIns="0" rtlCol="0" anchor="ctr"/>
          <a:lstStyle/>
          <a:p>
            <a:pPr marL="0" indent="0" algn="ctr">
              <a:lnSpc>
                <a:spcPct val="100000"/>
              </a:lnSpc>
              <a:buNone/>
            </a:pPr>
            <a:r>
              <a:rPr lang="en-US" sz="1300" dirty="0">
                <a:solidFill>
                  <a:srgbClr val="000000"/>
                </a:solidFill>
                <a:latin typeface="Montserrat SemiBold" pitchFamily="34" charset="0"/>
                <a:ea typeface="Montserrat SemiBold" pitchFamily="34" charset="-122"/>
                <a:cs typeface="Montserrat SemiBold" pitchFamily="34" charset="-120"/>
              </a:rPr>
              <a:t>1</a:t>
            </a:r>
            <a:endParaRPr lang="en-US" sz="1300" dirty="0"/>
          </a:p>
        </p:txBody>
      </p:sp>
      <p:sp>
        <p:nvSpPr>
          <p:cNvPr id="8" name="Text 6"/>
          <p:cNvSpPr/>
          <p:nvPr/>
        </p:nvSpPr>
        <p:spPr>
          <a:xfrm>
            <a:off x="1188021" y="1326207"/>
            <a:ext cx="7459861" cy="176510"/>
          </a:xfrm>
          <a:prstGeom prst="rect">
            <a:avLst/>
          </a:prstGeom>
          <a:noFill/>
          <a:ln/>
        </p:spPr>
        <p:txBody>
          <a:bodyPr wrap="none" lIns="0" tIns="0" rIns="0" bIns="0" rtlCol="0" anchor="t"/>
          <a:lstStyle/>
          <a:p>
            <a:pPr marL="0" indent="0" algn="l">
              <a:lnSpc>
                <a:spcPct val="104000"/>
              </a:lnSpc>
              <a:buNone/>
            </a:pPr>
            <a:r>
              <a:rPr lang="en-US" sz="1100" dirty="0">
                <a:solidFill>
                  <a:srgbClr val="000000"/>
                </a:solidFill>
                <a:latin typeface="Montserrat SemiBold" pitchFamily="34" charset="0"/>
                <a:ea typeface="Montserrat SemiBold" pitchFamily="34" charset="-122"/>
                <a:cs typeface="Montserrat SemiBold" pitchFamily="34" charset="-120"/>
              </a:rPr>
              <a:t>Step 1 — Fast Static Scanning</a:t>
            </a:r>
            <a:endParaRPr lang="en-US" sz="1100" dirty="0"/>
          </a:p>
        </p:txBody>
      </p:sp>
      <p:sp>
        <p:nvSpPr>
          <p:cNvPr id="9" name="Text 7"/>
          <p:cNvSpPr/>
          <p:nvPr/>
        </p:nvSpPr>
        <p:spPr>
          <a:xfrm>
            <a:off x="1188021" y="1556668"/>
            <a:ext cx="7459861" cy="162371"/>
          </a:xfrm>
          <a:prstGeom prst="rect">
            <a:avLst/>
          </a:prstGeom>
          <a:noFill/>
          <a:ln/>
        </p:spPr>
        <p:txBody>
          <a:bodyPr wrap="none" lIns="0" tIns="0" rIns="0" bIns="0" rtlCol="0" anchor="t"/>
          <a:lstStyle/>
          <a:p>
            <a:pPr marL="0" indent="0" algn="l">
              <a:lnSpc>
                <a:spcPct val="120000"/>
              </a:lnSpc>
              <a:buNone/>
            </a:pPr>
            <a:r>
              <a:rPr lang="en-US" sz="850" dirty="0">
                <a:solidFill>
                  <a:srgbClr val="000000"/>
                </a:solidFill>
                <a:latin typeface="Nunito Sans" pitchFamily="34" charset="0"/>
                <a:ea typeface="Nunito Sans" pitchFamily="34" charset="-122"/>
                <a:cs typeface="Nunito Sans" pitchFamily="34" charset="-120"/>
              </a:rPr>
              <a:t>Concurrently run Ruff, Bandit, Detect-Secrets, and Pip-Audit. The Shift-Left PR Review Engine collects findings and surfaces them to the developer.</a:t>
            </a:r>
            <a:endParaRPr lang="en-US" sz="850" dirty="0"/>
          </a:p>
        </p:txBody>
      </p:sp>
      <p:sp>
        <p:nvSpPr>
          <p:cNvPr id="10" name="Shape 8"/>
          <p:cNvSpPr/>
          <p:nvPr/>
        </p:nvSpPr>
        <p:spPr>
          <a:xfrm>
            <a:off x="735918" y="2018928"/>
            <a:ext cx="338882" cy="14288"/>
          </a:xfrm>
          <a:prstGeom prst="roundRect">
            <a:avLst>
              <a:gd name="adj" fmla="val 49998"/>
            </a:avLst>
          </a:prstGeom>
          <a:solidFill>
            <a:srgbClr val="B2DFE5"/>
          </a:solidFill>
          <a:ln/>
        </p:spPr>
      </p:sp>
      <p:sp>
        <p:nvSpPr>
          <p:cNvPr id="11" name="Shape 9"/>
          <p:cNvSpPr/>
          <p:nvPr/>
        </p:nvSpPr>
        <p:spPr>
          <a:xfrm>
            <a:off x="496081" y="1899047"/>
            <a:ext cx="254124" cy="254124"/>
          </a:xfrm>
          <a:prstGeom prst="roundRect">
            <a:avLst>
              <a:gd name="adj" fmla="val 18671"/>
            </a:avLst>
          </a:prstGeom>
          <a:solidFill>
            <a:srgbClr val="CCF9FF"/>
          </a:solidFill>
          <a:ln w="4763">
            <a:solidFill>
              <a:srgbClr val="B2DFE5"/>
            </a:solidFill>
            <a:prstDash val="solid"/>
          </a:ln>
        </p:spPr>
      </p:sp>
      <p:sp>
        <p:nvSpPr>
          <p:cNvPr id="12" name="Text 10"/>
          <p:cNvSpPr/>
          <p:nvPr/>
        </p:nvSpPr>
        <p:spPr>
          <a:xfrm>
            <a:off x="538386" y="1920180"/>
            <a:ext cx="169441" cy="211782"/>
          </a:xfrm>
          <a:prstGeom prst="rect">
            <a:avLst/>
          </a:prstGeom>
          <a:noFill/>
          <a:ln/>
        </p:spPr>
        <p:txBody>
          <a:bodyPr wrap="none" lIns="0" tIns="0" rIns="0" bIns="0" rtlCol="0" anchor="ctr"/>
          <a:lstStyle/>
          <a:p>
            <a:pPr marL="0" indent="0" algn="ctr">
              <a:lnSpc>
                <a:spcPct val="100000"/>
              </a:lnSpc>
              <a:buNone/>
            </a:pPr>
            <a:r>
              <a:rPr lang="en-US" sz="1300" dirty="0">
                <a:solidFill>
                  <a:srgbClr val="000000"/>
                </a:solidFill>
                <a:latin typeface="Montserrat SemiBold" pitchFamily="34" charset="0"/>
                <a:ea typeface="Montserrat SemiBold" pitchFamily="34" charset="-122"/>
                <a:cs typeface="Montserrat SemiBold" pitchFamily="34" charset="-120"/>
              </a:rPr>
              <a:t>2</a:t>
            </a:r>
            <a:endParaRPr lang="en-US" sz="1300" dirty="0"/>
          </a:p>
        </p:txBody>
      </p:sp>
      <p:sp>
        <p:nvSpPr>
          <p:cNvPr id="13" name="Text 11"/>
          <p:cNvSpPr/>
          <p:nvPr/>
        </p:nvSpPr>
        <p:spPr>
          <a:xfrm>
            <a:off x="1188021" y="1937817"/>
            <a:ext cx="7459861" cy="176510"/>
          </a:xfrm>
          <a:prstGeom prst="rect">
            <a:avLst/>
          </a:prstGeom>
          <a:noFill/>
          <a:ln/>
        </p:spPr>
        <p:txBody>
          <a:bodyPr wrap="none" lIns="0" tIns="0" rIns="0" bIns="0" rtlCol="0" anchor="t"/>
          <a:lstStyle/>
          <a:p>
            <a:pPr marL="0" indent="0" algn="l">
              <a:lnSpc>
                <a:spcPct val="104000"/>
              </a:lnSpc>
              <a:buNone/>
            </a:pPr>
            <a:r>
              <a:rPr lang="en-US" sz="1100" dirty="0">
                <a:solidFill>
                  <a:srgbClr val="000000"/>
                </a:solidFill>
                <a:latin typeface="Montserrat SemiBold" pitchFamily="34" charset="0"/>
                <a:ea typeface="Montserrat SemiBold" pitchFamily="34" charset="-122"/>
                <a:cs typeface="Montserrat SemiBold" pitchFamily="34" charset="-120"/>
              </a:rPr>
              <a:t>Step 2 — Gemini Contextual Review</a:t>
            </a:r>
            <a:endParaRPr lang="en-US" sz="1100" dirty="0"/>
          </a:p>
        </p:txBody>
      </p:sp>
      <p:sp>
        <p:nvSpPr>
          <p:cNvPr id="14" name="Text 12"/>
          <p:cNvSpPr/>
          <p:nvPr/>
        </p:nvSpPr>
        <p:spPr>
          <a:xfrm>
            <a:off x="1188021" y="2168277"/>
            <a:ext cx="7459861" cy="162371"/>
          </a:xfrm>
          <a:prstGeom prst="rect">
            <a:avLst/>
          </a:prstGeom>
          <a:noFill/>
          <a:ln/>
        </p:spPr>
        <p:txBody>
          <a:bodyPr wrap="none" lIns="0" tIns="0" rIns="0" bIns="0" rtlCol="0" anchor="t"/>
          <a:lstStyle/>
          <a:p>
            <a:pPr marL="0" indent="0" algn="l">
              <a:lnSpc>
                <a:spcPct val="120000"/>
              </a:lnSpc>
              <a:buNone/>
            </a:pPr>
            <a:r>
              <a:rPr lang="en-US" sz="850" dirty="0">
                <a:solidFill>
                  <a:srgbClr val="000000"/>
                </a:solidFill>
                <a:latin typeface="Nunito Sans" pitchFamily="34" charset="0"/>
                <a:ea typeface="Nunito Sans" pitchFamily="34" charset="-122"/>
                <a:cs typeface="Nunito Sans" pitchFamily="34" charset="-120"/>
              </a:rPr>
              <a:t>Gemini 2.0 Flash analyzes the code diff, scanner outputs, and project context to propose line-level fixes and improvements.</a:t>
            </a:r>
            <a:endParaRPr lang="en-US" sz="850" dirty="0"/>
          </a:p>
        </p:txBody>
      </p:sp>
      <p:sp>
        <p:nvSpPr>
          <p:cNvPr id="15" name="Shape 13"/>
          <p:cNvSpPr/>
          <p:nvPr/>
        </p:nvSpPr>
        <p:spPr>
          <a:xfrm>
            <a:off x="735918" y="2630537"/>
            <a:ext cx="338882" cy="14288"/>
          </a:xfrm>
          <a:prstGeom prst="roundRect">
            <a:avLst>
              <a:gd name="adj" fmla="val 49998"/>
            </a:avLst>
          </a:prstGeom>
          <a:solidFill>
            <a:srgbClr val="B2DFE5"/>
          </a:solidFill>
          <a:ln/>
        </p:spPr>
      </p:sp>
      <p:sp>
        <p:nvSpPr>
          <p:cNvPr id="16" name="Shape 14"/>
          <p:cNvSpPr/>
          <p:nvPr/>
        </p:nvSpPr>
        <p:spPr>
          <a:xfrm>
            <a:off x="496081" y="2510656"/>
            <a:ext cx="254124" cy="254124"/>
          </a:xfrm>
          <a:prstGeom prst="roundRect">
            <a:avLst>
              <a:gd name="adj" fmla="val 18671"/>
            </a:avLst>
          </a:prstGeom>
          <a:solidFill>
            <a:srgbClr val="CCF9FF"/>
          </a:solidFill>
          <a:ln w="4763">
            <a:solidFill>
              <a:srgbClr val="B2DFE5"/>
            </a:solidFill>
            <a:prstDash val="solid"/>
          </a:ln>
        </p:spPr>
      </p:sp>
      <p:sp>
        <p:nvSpPr>
          <p:cNvPr id="17" name="Text 15"/>
          <p:cNvSpPr/>
          <p:nvPr/>
        </p:nvSpPr>
        <p:spPr>
          <a:xfrm>
            <a:off x="538386" y="2531790"/>
            <a:ext cx="169441" cy="211782"/>
          </a:xfrm>
          <a:prstGeom prst="rect">
            <a:avLst/>
          </a:prstGeom>
          <a:noFill/>
          <a:ln/>
        </p:spPr>
        <p:txBody>
          <a:bodyPr wrap="none" lIns="0" tIns="0" rIns="0" bIns="0" rtlCol="0" anchor="ctr"/>
          <a:lstStyle/>
          <a:p>
            <a:pPr marL="0" indent="0" algn="ctr">
              <a:lnSpc>
                <a:spcPct val="100000"/>
              </a:lnSpc>
              <a:buNone/>
            </a:pPr>
            <a:r>
              <a:rPr lang="en-US" sz="1300" dirty="0">
                <a:solidFill>
                  <a:srgbClr val="000000"/>
                </a:solidFill>
                <a:latin typeface="Montserrat SemiBold" pitchFamily="34" charset="0"/>
                <a:ea typeface="Montserrat SemiBold" pitchFamily="34" charset="-122"/>
                <a:cs typeface="Montserrat SemiBold" pitchFamily="34" charset="-120"/>
              </a:rPr>
              <a:t>3</a:t>
            </a:r>
            <a:endParaRPr lang="en-US" sz="1300" dirty="0"/>
          </a:p>
        </p:txBody>
      </p:sp>
      <p:sp>
        <p:nvSpPr>
          <p:cNvPr id="18" name="Text 16"/>
          <p:cNvSpPr/>
          <p:nvPr/>
        </p:nvSpPr>
        <p:spPr>
          <a:xfrm>
            <a:off x="1188021" y="2549426"/>
            <a:ext cx="7459861" cy="176510"/>
          </a:xfrm>
          <a:prstGeom prst="rect">
            <a:avLst/>
          </a:prstGeom>
          <a:noFill/>
          <a:ln/>
        </p:spPr>
        <p:txBody>
          <a:bodyPr wrap="none" lIns="0" tIns="0" rIns="0" bIns="0" rtlCol="0" anchor="t"/>
          <a:lstStyle/>
          <a:p>
            <a:pPr marL="0" indent="0" algn="l">
              <a:lnSpc>
                <a:spcPct val="104000"/>
              </a:lnSpc>
              <a:buNone/>
            </a:pPr>
            <a:r>
              <a:rPr lang="en-US" sz="1100" dirty="0">
                <a:solidFill>
                  <a:srgbClr val="000000"/>
                </a:solidFill>
                <a:latin typeface="Montserrat SemiBold" pitchFamily="34" charset="0"/>
                <a:ea typeface="Montserrat SemiBold" pitchFamily="34" charset="-122"/>
                <a:cs typeface="Montserrat SemiBold" pitchFamily="34" charset="-120"/>
              </a:rPr>
              <a:t>Step 3 — AST Test-Gap Audit</a:t>
            </a:r>
            <a:endParaRPr lang="en-US" sz="1100" dirty="0"/>
          </a:p>
        </p:txBody>
      </p:sp>
      <p:sp>
        <p:nvSpPr>
          <p:cNvPr id="19" name="Text 17"/>
          <p:cNvSpPr/>
          <p:nvPr/>
        </p:nvSpPr>
        <p:spPr>
          <a:xfrm>
            <a:off x="1188021" y="2779886"/>
            <a:ext cx="7459861" cy="324743"/>
          </a:xfrm>
          <a:prstGeom prst="rect">
            <a:avLst/>
          </a:prstGeom>
          <a:noFill/>
          <a:ln/>
        </p:spPr>
        <p:txBody>
          <a:bodyPr wrap="square" lIns="0" tIns="0" rIns="0" bIns="0" rtlCol="0" anchor="t">
            <a:normAutofit/>
          </a:bodyPr>
          <a:lstStyle/>
          <a:p>
            <a:pPr marL="0" indent="0" algn="l">
              <a:lnSpc>
                <a:spcPct val="120000"/>
              </a:lnSpc>
              <a:buNone/>
            </a:pPr>
            <a:r>
              <a:rPr lang="en-US" sz="850" dirty="0">
                <a:solidFill>
                  <a:srgbClr val="000000"/>
                </a:solidFill>
                <a:latin typeface="Nunito Sans" pitchFamily="34" charset="0"/>
                <a:ea typeface="Nunito Sans" pitchFamily="34" charset="-122"/>
                <a:cs typeface="Nunito Sans" pitchFamily="34" charset="-120"/>
              </a:rPr>
              <a:t>The system parses the Abstract Syntax Tree of modified functions and checks whether new or modified public functions have corresponding unit tests. Missing coverage triggers a test-gap alert.</a:t>
            </a:r>
            <a:endParaRPr lang="en-US" sz="850" dirty="0"/>
          </a:p>
        </p:txBody>
      </p:sp>
      <p:sp>
        <p:nvSpPr>
          <p:cNvPr id="20" name="Shape 18"/>
          <p:cNvSpPr/>
          <p:nvPr/>
        </p:nvSpPr>
        <p:spPr>
          <a:xfrm>
            <a:off x="735918" y="3404518"/>
            <a:ext cx="338882" cy="14288"/>
          </a:xfrm>
          <a:prstGeom prst="roundRect">
            <a:avLst>
              <a:gd name="adj" fmla="val 49998"/>
            </a:avLst>
          </a:prstGeom>
          <a:solidFill>
            <a:srgbClr val="B2DFE5"/>
          </a:solidFill>
          <a:ln/>
        </p:spPr>
      </p:sp>
      <p:sp>
        <p:nvSpPr>
          <p:cNvPr id="21" name="Shape 19"/>
          <p:cNvSpPr/>
          <p:nvPr/>
        </p:nvSpPr>
        <p:spPr>
          <a:xfrm>
            <a:off x="496081" y="3284637"/>
            <a:ext cx="254124" cy="254124"/>
          </a:xfrm>
          <a:prstGeom prst="roundRect">
            <a:avLst>
              <a:gd name="adj" fmla="val 18671"/>
            </a:avLst>
          </a:prstGeom>
          <a:solidFill>
            <a:srgbClr val="CCF9FF"/>
          </a:solidFill>
          <a:ln w="4763">
            <a:solidFill>
              <a:srgbClr val="B2DFE5"/>
            </a:solidFill>
            <a:prstDash val="solid"/>
          </a:ln>
        </p:spPr>
      </p:sp>
      <p:sp>
        <p:nvSpPr>
          <p:cNvPr id="22" name="Text 20"/>
          <p:cNvSpPr/>
          <p:nvPr/>
        </p:nvSpPr>
        <p:spPr>
          <a:xfrm>
            <a:off x="538386" y="3305770"/>
            <a:ext cx="169441" cy="211782"/>
          </a:xfrm>
          <a:prstGeom prst="rect">
            <a:avLst/>
          </a:prstGeom>
          <a:noFill/>
          <a:ln/>
        </p:spPr>
        <p:txBody>
          <a:bodyPr wrap="none" lIns="0" tIns="0" rIns="0" bIns="0" rtlCol="0" anchor="ctr"/>
          <a:lstStyle/>
          <a:p>
            <a:pPr marL="0" indent="0" algn="ctr">
              <a:lnSpc>
                <a:spcPct val="100000"/>
              </a:lnSpc>
              <a:buNone/>
            </a:pPr>
            <a:r>
              <a:rPr lang="en-US" sz="1300" dirty="0">
                <a:solidFill>
                  <a:srgbClr val="000000"/>
                </a:solidFill>
                <a:latin typeface="Montserrat SemiBold" pitchFamily="34" charset="0"/>
                <a:ea typeface="Montserrat SemiBold" pitchFamily="34" charset="-122"/>
                <a:cs typeface="Montserrat SemiBold" pitchFamily="34" charset="-120"/>
              </a:rPr>
              <a:t>4</a:t>
            </a:r>
            <a:endParaRPr lang="en-US" sz="1300" dirty="0"/>
          </a:p>
        </p:txBody>
      </p:sp>
      <p:sp>
        <p:nvSpPr>
          <p:cNvPr id="23" name="Text 21"/>
          <p:cNvSpPr/>
          <p:nvPr/>
        </p:nvSpPr>
        <p:spPr>
          <a:xfrm>
            <a:off x="1188021" y="3323406"/>
            <a:ext cx="7459861" cy="176510"/>
          </a:xfrm>
          <a:prstGeom prst="rect">
            <a:avLst/>
          </a:prstGeom>
          <a:noFill/>
          <a:ln/>
        </p:spPr>
        <p:txBody>
          <a:bodyPr wrap="none" lIns="0" tIns="0" rIns="0" bIns="0" rtlCol="0" anchor="t"/>
          <a:lstStyle/>
          <a:p>
            <a:pPr marL="0" indent="0" algn="l">
              <a:lnSpc>
                <a:spcPct val="104000"/>
              </a:lnSpc>
              <a:buNone/>
            </a:pPr>
            <a:r>
              <a:rPr lang="en-US" sz="1100" dirty="0">
                <a:solidFill>
                  <a:srgbClr val="000000"/>
                </a:solidFill>
                <a:latin typeface="Montserrat SemiBold" pitchFamily="34" charset="0"/>
                <a:ea typeface="Montserrat SemiBold" pitchFamily="34" charset="-122"/>
                <a:cs typeface="Montserrat SemiBold" pitchFamily="34" charset="-120"/>
              </a:rPr>
              <a:t>Step 4 — Quality Gate Enforcement</a:t>
            </a:r>
            <a:endParaRPr lang="en-US" sz="1100" dirty="0"/>
          </a:p>
        </p:txBody>
      </p:sp>
      <p:sp>
        <p:nvSpPr>
          <p:cNvPr id="24" name="Text 22"/>
          <p:cNvSpPr/>
          <p:nvPr/>
        </p:nvSpPr>
        <p:spPr>
          <a:xfrm>
            <a:off x="1188021" y="3553867"/>
            <a:ext cx="7459861" cy="324743"/>
          </a:xfrm>
          <a:prstGeom prst="rect">
            <a:avLst/>
          </a:prstGeom>
          <a:noFill/>
          <a:ln/>
        </p:spPr>
        <p:txBody>
          <a:bodyPr wrap="square" lIns="0" tIns="0" rIns="0" bIns="0" rtlCol="0" anchor="t">
            <a:normAutofit/>
          </a:bodyPr>
          <a:lstStyle/>
          <a:p>
            <a:pPr marL="0" indent="0" algn="l">
              <a:lnSpc>
                <a:spcPct val="120000"/>
              </a:lnSpc>
              <a:buNone/>
            </a:pPr>
            <a:r>
              <a:rPr lang="en-US" sz="850" dirty="0">
                <a:solidFill>
                  <a:srgbClr val="000000"/>
                </a:solidFill>
                <a:latin typeface="Nunito Sans" pitchFamily="34" charset="0"/>
                <a:ea typeface="Nunito Sans" pitchFamily="34" charset="-122"/>
                <a:cs typeface="Nunito Sans" pitchFamily="34" charset="-120"/>
              </a:rPr>
              <a:t>The GitHub Check Run status is updated. If critical findings exist, the system blocks the merge until issues are resolved and all critical policies are satisfied.</a:t>
            </a:r>
            <a:endParaRPr lang="en-US" sz="850" dirty="0"/>
          </a:p>
        </p:txBody>
      </p:sp>
      <p:sp>
        <p:nvSpPr>
          <p:cNvPr id="25" name="Shape 23"/>
          <p:cNvSpPr/>
          <p:nvPr/>
        </p:nvSpPr>
        <p:spPr>
          <a:xfrm>
            <a:off x="735918" y="4178498"/>
            <a:ext cx="338882" cy="14288"/>
          </a:xfrm>
          <a:prstGeom prst="roundRect">
            <a:avLst>
              <a:gd name="adj" fmla="val 49998"/>
            </a:avLst>
          </a:prstGeom>
          <a:solidFill>
            <a:srgbClr val="B2DFE5"/>
          </a:solidFill>
          <a:ln/>
        </p:spPr>
      </p:sp>
      <p:sp>
        <p:nvSpPr>
          <p:cNvPr id="26" name="Shape 24"/>
          <p:cNvSpPr/>
          <p:nvPr/>
        </p:nvSpPr>
        <p:spPr>
          <a:xfrm>
            <a:off x="496081" y="4058617"/>
            <a:ext cx="254124" cy="254124"/>
          </a:xfrm>
          <a:prstGeom prst="roundRect">
            <a:avLst>
              <a:gd name="adj" fmla="val 18671"/>
            </a:avLst>
          </a:prstGeom>
          <a:solidFill>
            <a:srgbClr val="CCF9FF"/>
          </a:solidFill>
          <a:ln w="4763">
            <a:solidFill>
              <a:srgbClr val="B2DFE5"/>
            </a:solidFill>
            <a:prstDash val="solid"/>
          </a:ln>
        </p:spPr>
      </p:sp>
      <p:sp>
        <p:nvSpPr>
          <p:cNvPr id="27" name="Text 25"/>
          <p:cNvSpPr/>
          <p:nvPr/>
        </p:nvSpPr>
        <p:spPr>
          <a:xfrm>
            <a:off x="538386" y="4079751"/>
            <a:ext cx="169441" cy="211782"/>
          </a:xfrm>
          <a:prstGeom prst="rect">
            <a:avLst/>
          </a:prstGeom>
          <a:noFill/>
          <a:ln/>
        </p:spPr>
        <p:txBody>
          <a:bodyPr wrap="none" lIns="0" tIns="0" rIns="0" bIns="0" rtlCol="0" anchor="ctr"/>
          <a:lstStyle/>
          <a:p>
            <a:pPr marL="0" indent="0" algn="ctr">
              <a:lnSpc>
                <a:spcPct val="100000"/>
              </a:lnSpc>
              <a:buNone/>
            </a:pPr>
            <a:r>
              <a:rPr lang="en-US" sz="1300" dirty="0">
                <a:solidFill>
                  <a:srgbClr val="000000"/>
                </a:solidFill>
                <a:latin typeface="Montserrat SemiBold" pitchFamily="34" charset="0"/>
                <a:ea typeface="Montserrat SemiBold" pitchFamily="34" charset="-122"/>
                <a:cs typeface="Montserrat SemiBold" pitchFamily="34" charset="-120"/>
              </a:rPr>
              <a:t>5</a:t>
            </a:r>
            <a:endParaRPr lang="en-US" sz="1300" dirty="0"/>
          </a:p>
        </p:txBody>
      </p:sp>
      <p:sp>
        <p:nvSpPr>
          <p:cNvPr id="28" name="Text 26"/>
          <p:cNvSpPr/>
          <p:nvPr/>
        </p:nvSpPr>
        <p:spPr>
          <a:xfrm>
            <a:off x="1188021" y="4097387"/>
            <a:ext cx="7459861" cy="176510"/>
          </a:xfrm>
          <a:prstGeom prst="rect">
            <a:avLst/>
          </a:prstGeom>
          <a:noFill/>
          <a:ln/>
        </p:spPr>
        <p:txBody>
          <a:bodyPr wrap="none" lIns="0" tIns="0" rIns="0" bIns="0" rtlCol="0" anchor="t"/>
          <a:lstStyle/>
          <a:p>
            <a:pPr marL="0" indent="0" algn="l">
              <a:lnSpc>
                <a:spcPct val="104000"/>
              </a:lnSpc>
              <a:buNone/>
            </a:pPr>
            <a:r>
              <a:rPr lang="en-US" sz="1100" dirty="0">
                <a:solidFill>
                  <a:srgbClr val="000000"/>
                </a:solidFill>
                <a:latin typeface="Montserrat SemiBold" pitchFamily="34" charset="0"/>
                <a:ea typeface="Montserrat SemiBold" pitchFamily="34" charset="-122"/>
                <a:cs typeface="Montserrat SemiBold" pitchFamily="34" charset="-120"/>
              </a:rPr>
              <a:t>Step 5 — Autonomous Auto-Fix PRs</a:t>
            </a:r>
            <a:endParaRPr lang="en-US" sz="1100" dirty="0"/>
          </a:p>
        </p:txBody>
      </p:sp>
      <p:sp>
        <p:nvSpPr>
          <p:cNvPr id="29" name="Text 27"/>
          <p:cNvSpPr/>
          <p:nvPr/>
        </p:nvSpPr>
        <p:spPr>
          <a:xfrm>
            <a:off x="1188021" y="4327847"/>
            <a:ext cx="7459861" cy="324743"/>
          </a:xfrm>
          <a:prstGeom prst="rect">
            <a:avLst/>
          </a:prstGeom>
          <a:noFill/>
          <a:ln/>
        </p:spPr>
        <p:txBody>
          <a:bodyPr wrap="square" lIns="0" tIns="0" rIns="0" bIns="0" rtlCol="0" anchor="t">
            <a:normAutofit/>
          </a:bodyPr>
          <a:lstStyle/>
          <a:p>
            <a:pPr marL="0" indent="0" algn="l">
              <a:lnSpc>
                <a:spcPct val="120000"/>
              </a:lnSpc>
              <a:buNone/>
            </a:pPr>
            <a:r>
              <a:rPr lang="en-US" sz="850" dirty="0">
                <a:solidFill>
                  <a:srgbClr val="000000"/>
                </a:solidFill>
                <a:latin typeface="Nunito Sans" pitchFamily="34" charset="0"/>
                <a:ea typeface="Nunito Sans" pitchFamily="34" charset="-122"/>
                <a:cs typeface="Nunito Sans" pitchFamily="34" charset="-120"/>
              </a:rPr>
              <a:t>For common issues such as missing imports or unused variables, the system can create an auto-fix branch, commit fixes, and open a ready-to-merge pull request.</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96119" y="471413"/>
            <a:ext cx="8151763" cy="346100"/>
          </a:xfrm>
          <a:prstGeom prst="rect">
            <a:avLst/>
          </a:prstGeom>
          <a:noFill/>
          <a:ln/>
        </p:spPr>
        <p:txBody>
          <a:bodyPr wrap="none" lIns="0" tIns="0" rIns="0" bIns="0" rtlCol="0" anchor="t"/>
          <a:lstStyle/>
          <a:p>
            <a:pPr marL="0" indent="0" algn="l">
              <a:lnSpc>
                <a:spcPct val="104000"/>
              </a:lnSpc>
              <a:buNone/>
            </a:pPr>
            <a:r>
              <a:rPr lang="en-US" sz="2150" dirty="0">
                <a:solidFill>
                  <a:srgbClr val="000000"/>
                </a:solidFill>
                <a:latin typeface="Montserrat SemiBold" pitchFamily="34" charset="0"/>
                <a:ea typeface="Montserrat SemiBold" pitchFamily="34" charset="-122"/>
                <a:cs typeface="Montserrat SemiBold" pitchFamily="34" charset="-120"/>
              </a:rPr>
              <a:t>Methodology: Closed-Loop Runtime Self-Healing</a:t>
            </a:r>
            <a:endParaRPr lang="en-US" sz="2150" dirty="0"/>
          </a:p>
        </p:txBody>
      </p:sp>
      <p:sp>
        <p:nvSpPr>
          <p:cNvPr id="3" name="Text 1"/>
          <p:cNvSpPr/>
          <p:nvPr/>
        </p:nvSpPr>
        <p:spPr>
          <a:xfrm>
            <a:off x="496119" y="990526"/>
            <a:ext cx="8608963" cy="157758"/>
          </a:xfrm>
          <a:prstGeom prst="rect">
            <a:avLst/>
          </a:prstGeom>
          <a:noFill/>
          <a:ln/>
        </p:spPr>
        <p:txBody>
          <a:bodyPr wrap="none" lIns="0" tIns="0" rIns="0" bIns="0" rtlCol="0" anchor="t"/>
          <a:lstStyle/>
          <a:p>
            <a:pPr marL="0" indent="0" algn="l">
              <a:lnSpc>
                <a:spcPct val="119000"/>
              </a:lnSpc>
              <a:buNone/>
            </a:pPr>
            <a:r>
              <a:rPr lang="en-US" sz="850" b="1" dirty="0">
                <a:solidFill>
                  <a:srgbClr val="000000"/>
                </a:solidFill>
                <a:latin typeface="Nunito Sans Bold" pitchFamily="34" charset="0"/>
                <a:ea typeface="Nunito Sans Bold" pitchFamily="34" charset="-122"/>
                <a:cs typeface="Nunito Sans Bold" pitchFamily="34" charset="-120"/>
              </a:rPr>
              <a:t>How the System Heals Live Cloud Infrastructure (Simple Step-by-Step)</a:t>
            </a:r>
            <a:endParaRPr lang="en-US" sz="850" dirty="0"/>
          </a:p>
        </p:txBody>
      </p:sp>
      <p:sp>
        <p:nvSpPr>
          <p:cNvPr id="4" name="Shape 2"/>
          <p:cNvSpPr/>
          <p:nvPr/>
        </p:nvSpPr>
        <p:spPr>
          <a:xfrm>
            <a:off x="620688" y="1245617"/>
            <a:ext cx="14288" cy="3426396"/>
          </a:xfrm>
          <a:prstGeom prst="roundRect">
            <a:avLst>
              <a:gd name="adj" fmla="val 49998"/>
            </a:avLst>
          </a:prstGeom>
          <a:solidFill>
            <a:srgbClr val="B2DFE5"/>
          </a:solidFill>
          <a:ln/>
        </p:spPr>
      </p:sp>
      <p:sp>
        <p:nvSpPr>
          <p:cNvPr id="5" name="Shape 3"/>
          <p:cNvSpPr/>
          <p:nvPr/>
        </p:nvSpPr>
        <p:spPr>
          <a:xfrm>
            <a:off x="730969" y="1363042"/>
            <a:ext cx="332259" cy="14288"/>
          </a:xfrm>
          <a:prstGeom prst="roundRect">
            <a:avLst>
              <a:gd name="adj" fmla="val 49998"/>
            </a:avLst>
          </a:prstGeom>
          <a:solidFill>
            <a:srgbClr val="B2DFE5"/>
          </a:solidFill>
          <a:ln/>
        </p:spPr>
      </p:sp>
      <p:sp>
        <p:nvSpPr>
          <p:cNvPr id="6" name="Shape 4"/>
          <p:cNvSpPr/>
          <p:nvPr/>
        </p:nvSpPr>
        <p:spPr>
          <a:xfrm>
            <a:off x="496119" y="1245617"/>
            <a:ext cx="249138" cy="249138"/>
          </a:xfrm>
          <a:prstGeom prst="roundRect">
            <a:avLst>
              <a:gd name="adj" fmla="val 18671"/>
            </a:avLst>
          </a:prstGeom>
          <a:solidFill>
            <a:srgbClr val="CCF9FF"/>
          </a:solidFill>
          <a:ln w="4763">
            <a:solidFill>
              <a:srgbClr val="B2DFE5"/>
            </a:solidFill>
            <a:prstDash val="solid"/>
          </a:ln>
        </p:spPr>
      </p:sp>
      <p:sp>
        <p:nvSpPr>
          <p:cNvPr id="7" name="Text 5"/>
          <p:cNvSpPr/>
          <p:nvPr/>
        </p:nvSpPr>
        <p:spPr>
          <a:xfrm>
            <a:off x="537642" y="1266379"/>
            <a:ext cx="166092" cy="207615"/>
          </a:xfrm>
          <a:prstGeom prst="rect">
            <a:avLst/>
          </a:prstGeom>
          <a:noFill/>
          <a:ln/>
        </p:spPr>
        <p:txBody>
          <a:bodyPr wrap="none" lIns="0" tIns="0" rIns="0" bIns="0" rtlCol="0" anchor="ctr"/>
          <a:lstStyle/>
          <a:p>
            <a:pPr marL="0" indent="0" algn="ctr">
              <a:lnSpc>
                <a:spcPct val="100000"/>
              </a:lnSpc>
              <a:buNone/>
            </a:pPr>
            <a:r>
              <a:rPr lang="en-US" sz="1300" dirty="0">
                <a:solidFill>
                  <a:srgbClr val="000000"/>
                </a:solidFill>
                <a:latin typeface="Montserrat SemiBold" pitchFamily="34" charset="0"/>
                <a:ea typeface="Montserrat SemiBold" pitchFamily="34" charset="-122"/>
                <a:cs typeface="Montserrat SemiBold" pitchFamily="34" charset="-120"/>
              </a:rPr>
              <a:t>1</a:t>
            </a:r>
            <a:endParaRPr lang="en-US" sz="1300" dirty="0"/>
          </a:p>
        </p:txBody>
      </p:sp>
      <p:sp>
        <p:nvSpPr>
          <p:cNvPr id="8" name="Text 6"/>
          <p:cNvSpPr/>
          <p:nvPr/>
        </p:nvSpPr>
        <p:spPr>
          <a:xfrm>
            <a:off x="1174477" y="1283643"/>
            <a:ext cx="7473404" cy="173013"/>
          </a:xfrm>
          <a:prstGeom prst="rect">
            <a:avLst/>
          </a:prstGeom>
          <a:noFill/>
          <a:ln/>
        </p:spPr>
        <p:txBody>
          <a:bodyPr wrap="none" lIns="0" tIns="0" rIns="0" bIns="0" rtlCol="0" anchor="t"/>
          <a:lstStyle/>
          <a:p>
            <a:pPr marL="0" indent="0" algn="l">
              <a:lnSpc>
                <a:spcPct val="104000"/>
              </a:lnSpc>
              <a:buNone/>
            </a:pPr>
            <a:r>
              <a:rPr lang="en-US" sz="1050" dirty="0">
                <a:solidFill>
                  <a:srgbClr val="000000"/>
                </a:solidFill>
                <a:latin typeface="Montserrat SemiBold" pitchFamily="34" charset="0"/>
                <a:ea typeface="Montserrat SemiBold" pitchFamily="34" charset="-122"/>
                <a:cs typeface="Montserrat SemiBold" pitchFamily="34" charset="-120"/>
              </a:rPr>
              <a:t>Step 1 - Digital Telemetry Ingestion &amp; Anomaly Detection</a:t>
            </a:r>
            <a:endParaRPr lang="en-US" sz="1050" dirty="0"/>
          </a:p>
        </p:txBody>
      </p:sp>
      <p:sp>
        <p:nvSpPr>
          <p:cNvPr id="9" name="Text 7"/>
          <p:cNvSpPr/>
          <p:nvPr/>
        </p:nvSpPr>
        <p:spPr>
          <a:xfrm>
            <a:off x="1174477" y="1508522"/>
            <a:ext cx="7473404" cy="315516"/>
          </a:xfrm>
          <a:prstGeom prst="rect">
            <a:avLst/>
          </a:prstGeom>
          <a:noFill/>
          <a:ln/>
        </p:spPr>
        <p:txBody>
          <a:bodyPr wrap="square" lIns="0" tIns="0" rIns="0" bIns="0" rtlCol="0" anchor="t">
            <a:normAutofit/>
          </a:bodyPr>
          <a:lstStyle/>
          <a:p>
            <a:pPr marL="0" indent="0" algn="l">
              <a:lnSpc>
                <a:spcPct val="119000"/>
              </a:lnSpc>
              <a:buNone/>
            </a:pPr>
            <a:r>
              <a:rPr lang="en-US" sz="850" dirty="0">
                <a:solidFill>
                  <a:srgbClr val="000000"/>
                </a:solidFill>
                <a:latin typeface="Nunito Sans" pitchFamily="34" charset="0"/>
                <a:ea typeface="Nunito Sans" pitchFamily="34" charset="-122"/>
                <a:cs typeface="Nunito Sans" pitchFamily="34" charset="-120"/>
              </a:rPr>
              <a:t>Continuously pull CPU, RAM, error rates, and request rates from Prometheus/Datadog and update a live in-memory dependency graph (TDTdb). An Isolation Forest model detects anomalies.</a:t>
            </a:r>
            <a:endParaRPr lang="en-US" sz="850" dirty="0"/>
          </a:p>
        </p:txBody>
      </p:sp>
      <p:sp>
        <p:nvSpPr>
          <p:cNvPr id="10" name="Shape 8"/>
          <p:cNvSpPr/>
          <p:nvPr/>
        </p:nvSpPr>
        <p:spPr>
          <a:xfrm>
            <a:off x="730969" y="2114476"/>
            <a:ext cx="332259" cy="14288"/>
          </a:xfrm>
          <a:prstGeom prst="roundRect">
            <a:avLst>
              <a:gd name="adj" fmla="val 49998"/>
            </a:avLst>
          </a:prstGeom>
          <a:solidFill>
            <a:srgbClr val="B2DFE5"/>
          </a:solidFill>
          <a:ln/>
        </p:spPr>
      </p:sp>
      <p:sp>
        <p:nvSpPr>
          <p:cNvPr id="11" name="Shape 9"/>
          <p:cNvSpPr/>
          <p:nvPr/>
        </p:nvSpPr>
        <p:spPr>
          <a:xfrm>
            <a:off x="496119" y="1997050"/>
            <a:ext cx="249138" cy="249138"/>
          </a:xfrm>
          <a:prstGeom prst="roundRect">
            <a:avLst>
              <a:gd name="adj" fmla="val 18671"/>
            </a:avLst>
          </a:prstGeom>
          <a:solidFill>
            <a:srgbClr val="CCF9FF"/>
          </a:solidFill>
          <a:ln w="4763">
            <a:solidFill>
              <a:srgbClr val="B2DFE5"/>
            </a:solidFill>
            <a:prstDash val="solid"/>
          </a:ln>
        </p:spPr>
      </p:sp>
      <p:sp>
        <p:nvSpPr>
          <p:cNvPr id="12" name="Text 10"/>
          <p:cNvSpPr/>
          <p:nvPr/>
        </p:nvSpPr>
        <p:spPr>
          <a:xfrm>
            <a:off x="537642" y="2017812"/>
            <a:ext cx="166092" cy="207615"/>
          </a:xfrm>
          <a:prstGeom prst="rect">
            <a:avLst/>
          </a:prstGeom>
          <a:noFill/>
          <a:ln/>
        </p:spPr>
        <p:txBody>
          <a:bodyPr wrap="none" lIns="0" tIns="0" rIns="0" bIns="0" rtlCol="0" anchor="ctr"/>
          <a:lstStyle/>
          <a:p>
            <a:pPr marL="0" indent="0" algn="ctr">
              <a:lnSpc>
                <a:spcPct val="100000"/>
              </a:lnSpc>
              <a:buNone/>
            </a:pPr>
            <a:r>
              <a:rPr lang="en-US" sz="1300" dirty="0">
                <a:solidFill>
                  <a:srgbClr val="000000"/>
                </a:solidFill>
                <a:latin typeface="Montserrat SemiBold" pitchFamily="34" charset="0"/>
                <a:ea typeface="Montserrat SemiBold" pitchFamily="34" charset="-122"/>
                <a:cs typeface="Montserrat SemiBold" pitchFamily="34" charset="-120"/>
              </a:rPr>
              <a:t>2</a:t>
            </a:r>
            <a:endParaRPr lang="en-US" sz="1300" dirty="0"/>
          </a:p>
        </p:txBody>
      </p:sp>
      <p:sp>
        <p:nvSpPr>
          <p:cNvPr id="13" name="Text 11"/>
          <p:cNvSpPr/>
          <p:nvPr/>
        </p:nvSpPr>
        <p:spPr>
          <a:xfrm>
            <a:off x="1174477" y="2035076"/>
            <a:ext cx="7473404" cy="173013"/>
          </a:xfrm>
          <a:prstGeom prst="rect">
            <a:avLst/>
          </a:prstGeom>
          <a:noFill/>
          <a:ln/>
        </p:spPr>
        <p:txBody>
          <a:bodyPr wrap="none" lIns="0" tIns="0" rIns="0" bIns="0" rtlCol="0" anchor="t"/>
          <a:lstStyle/>
          <a:p>
            <a:pPr marL="0" indent="0" algn="l">
              <a:lnSpc>
                <a:spcPct val="104000"/>
              </a:lnSpc>
              <a:buNone/>
            </a:pPr>
            <a:r>
              <a:rPr lang="en-US" sz="1050" dirty="0">
                <a:solidFill>
                  <a:srgbClr val="000000"/>
                </a:solidFill>
                <a:latin typeface="Montserrat SemiBold" pitchFamily="34" charset="0"/>
                <a:ea typeface="Montserrat SemiBold" pitchFamily="34" charset="-122"/>
                <a:cs typeface="Montserrat SemiBold" pitchFamily="34" charset="-120"/>
              </a:rPr>
              <a:t>Step 2 - Root Cause Analysis</a:t>
            </a:r>
            <a:endParaRPr lang="en-US" sz="1050" dirty="0"/>
          </a:p>
        </p:txBody>
      </p:sp>
      <p:sp>
        <p:nvSpPr>
          <p:cNvPr id="14" name="Text 12"/>
          <p:cNvSpPr/>
          <p:nvPr/>
        </p:nvSpPr>
        <p:spPr>
          <a:xfrm>
            <a:off x="1174477" y="2259955"/>
            <a:ext cx="7473404" cy="315516"/>
          </a:xfrm>
          <a:prstGeom prst="rect">
            <a:avLst/>
          </a:prstGeom>
          <a:noFill/>
          <a:ln/>
        </p:spPr>
        <p:txBody>
          <a:bodyPr wrap="square" lIns="0" tIns="0" rIns="0" bIns="0" rtlCol="0" anchor="t">
            <a:normAutofit/>
          </a:bodyPr>
          <a:lstStyle/>
          <a:p>
            <a:pPr marL="0" indent="0" algn="l">
              <a:lnSpc>
                <a:spcPct val="119000"/>
              </a:lnSpc>
              <a:buNone/>
            </a:pPr>
            <a:r>
              <a:rPr lang="en-US" sz="850" dirty="0">
                <a:solidFill>
                  <a:srgbClr val="000000"/>
                </a:solidFill>
                <a:latin typeface="Nunito Sans" pitchFamily="34" charset="0"/>
                <a:ea typeface="Nunito Sans" pitchFamily="34" charset="-122"/>
                <a:cs typeface="Nunito Sans" pitchFamily="34" charset="-120"/>
              </a:rPr>
              <a:t>Once an anomaly is detected, KernelSHAP computes Shapley values to identify which metrics (e.g., CPU spike, memory leak, high latency) are the primary drivers of the anomaly.</a:t>
            </a:r>
            <a:endParaRPr lang="en-US" sz="850" dirty="0"/>
          </a:p>
        </p:txBody>
      </p:sp>
      <p:sp>
        <p:nvSpPr>
          <p:cNvPr id="15" name="Shape 13"/>
          <p:cNvSpPr/>
          <p:nvPr/>
        </p:nvSpPr>
        <p:spPr>
          <a:xfrm>
            <a:off x="730969" y="2865909"/>
            <a:ext cx="332259" cy="14288"/>
          </a:xfrm>
          <a:prstGeom prst="roundRect">
            <a:avLst>
              <a:gd name="adj" fmla="val 49998"/>
            </a:avLst>
          </a:prstGeom>
          <a:solidFill>
            <a:srgbClr val="B2DFE5"/>
          </a:solidFill>
          <a:ln/>
        </p:spPr>
      </p:sp>
      <p:sp>
        <p:nvSpPr>
          <p:cNvPr id="16" name="Shape 14"/>
          <p:cNvSpPr/>
          <p:nvPr/>
        </p:nvSpPr>
        <p:spPr>
          <a:xfrm>
            <a:off x="496119" y="2748483"/>
            <a:ext cx="249138" cy="249138"/>
          </a:xfrm>
          <a:prstGeom prst="roundRect">
            <a:avLst>
              <a:gd name="adj" fmla="val 18671"/>
            </a:avLst>
          </a:prstGeom>
          <a:solidFill>
            <a:srgbClr val="CCF9FF"/>
          </a:solidFill>
          <a:ln w="4763">
            <a:solidFill>
              <a:srgbClr val="B2DFE5"/>
            </a:solidFill>
            <a:prstDash val="solid"/>
          </a:ln>
        </p:spPr>
      </p:sp>
      <p:sp>
        <p:nvSpPr>
          <p:cNvPr id="17" name="Text 15"/>
          <p:cNvSpPr/>
          <p:nvPr/>
        </p:nvSpPr>
        <p:spPr>
          <a:xfrm>
            <a:off x="537642" y="2769245"/>
            <a:ext cx="166092" cy="207615"/>
          </a:xfrm>
          <a:prstGeom prst="rect">
            <a:avLst/>
          </a:prstGeom>
          <a:noFill/>
          <a:ln/>
        </p:spPr>
        <p:txBody>
          <a:bodyPr wrap="none" lIns="0" tIns="0" rIns="0" bIns="0" rtlCol="0" anchor="ctr"/>
          <a:lstStyle/>
          <a:p>
            <a:pPr marL="0" indent="0" algn="ctr">
              <a:lnSpc>
                <a:spcPct val="100000"/>
              </a:lnSpc>
              <a:buNone/>
            </a:pPr>
            <a:r>
              <a:rPr lang="en-US" sz="1300" dirty="0">
                <a:solidFill>
                  <a:srgbClr val="000000"/>
                </a:solidFill>
                <a:latin typeface="Montserrat SemiBold" pitchFamily="34" charset="0"/>
                <a:ea typeface="Montserrat SemiBold" pitchFamily="34" charset="-122"/>
                <a:cs typeface="Montserrat SemiBold" pitchFamily="34" charset="-120"/>
              </a:rPr>
              <a:t>3</a:t>
            </a:r>
            <a:endParaRPr lang="en-US" sz="1300" dirty="0"/>
          </a:p>
        </p:txBody>
      </p:sp>
      <p:sp>
        <p:nvSpPr>
          <p:cNvPr id="18" name="Text 16"/>
          <p:cNvSpPr/>
          <p:nvPr/>
        </p:nvSpPr>
        <p:spPr>
          <a:xfrm>
            <a:off x="1174477" y="2786509"/>
            <a:ext cx="7473404" cy="173013"/>
          </a:xfrm>
          <a:prstGeom prst="rect">
            <a:avLst/>
          </a:prstGeom>
          <a:noFill/>
          <a:ln/>
        </p:spPr>
        <p:txBody>
          <a:bodyPr wrap="none" lIns="0" tIns="0" rIns="0" bIns="0" rtlCol="0" anchor="t"/>
          <a:lstStyle/>
          <a:p>
            <a:pPr marL="0" indent="0" algn="l">
              <a:lnSpc>
                <a:spcPct val="104000"/>
              </a:lnSpc>
              <a:buNone/>
            </a:pPr>
            <a:r>
              <a:rPr lang="en-US" sz="1050" dirty="0">
                <a:solidFill>
                  <a:srgbClr val="000000"/>
                </a:solidFill>
                <a:latin typeface="Montserrat SemiBold" pitchFamily="34" charset="0"/>
                <a:ea typeface="Montserrat SemiBold" pitchFamily="34" charset="-122"/>
                <a:cs typeface="Montserrat SemiBold" pitchFamily="34" charset="-120"/>
              </a:rPr>
              <a:t>Step 3 - Explainable Root Cause &amp; Consensus</a:t>
            </a:r>
            <a:endParaRPr lang="en-US" sz="1050" dirty="0"/>
          </a:p>
        </p:txBody>
      </p:sp>
      <p:sp>
        <p:nvSpPr>
          <p:cNvPr id="19" name="Text 17"/>
          <p:cNvSpPr/>
          <p:nvPr/>
        </p:nvSpPr>
        <p:spPr>
          <a:xfrm>
            <a:off x="1174477" y="3011388"/>
            <a:ext cx="7473404" cy="315516"/>
          </a:xfrm>
          <a:prstGeom prst="rect">
            <a:avLst/>
          </a:prstGeom>
          <a:noFill/>
          <a:ln/>
        </p:spPr>
        <p:txBody>
          <a:bodyPr wrap="square" lIns="0" tIns="0" rIns="0" bIns="0" rtlCol="0" anchor="t">
            <a:normAutofit/>
          </a:bodyPr>
          <a:lstStyle/>
          <a:p>
            <a:pPr marL="0" indent="0" algn="l">
              <a:lnSpc>
                <a:spcPct val="119000"/>
              </a:lnSpc>
              <a:buNone/>
            </a:pPr>
            <a:r>
              <a:rPr lang="en-US" sz="850" dirty="0">
                <a:solidFill>
                  <a:srgbClr val="000000"/>
                </a:solidFill>
                <a:latin typeface="Nunito Sans" pitchFamily="34" charset="0"/>
                <a:ea typeface="Nunito Sans" pitchFamily="34" charset="-122"/>
                <a:cs typeface="Nunito Sans" pitchFamily="34" charset="-120"/>
              </a:rPr>
              <a:t>Summarize the root cause (e.g., "Pod X is consuming 95% CPU due to a memory leak"). Run a 0.01-second SimPy simulation to verify the proposed action (e.g., "if we restart Pod X, will latency drop below SLO?"). If simulation confirms safety, the system executes the remediation on AKS.</a:t>
            </a:r>
            <a:endParaRPr lang="en-US" sz="850" dirty="0"/>
          </a:p>
        </p:txBody>
      </p:sp>
      <p:sp>
        <p:nvSpPr>
          <p:cNvPr id="20" name="Shape 18"/>
          <p:cNvSpPr/>
          <p:nvPr/>
        </p:nvSpPr>
        <p:spPr>
          <a:xfrm>
            <a:off x="730969" y="3617342"/>
            <a:ext cx="332259" cy="14288"/>
          </a:xfrm>
          <a:prstGeom prst="roundRect">
            <a:avLst>
              <a:gd name="adj" fmla="val 49998"/>
            </a:avLst>
          </a:prstGeom>
          <a:solidFill>
            <a:srgbClr val="B2DFE5"/>
          </a:solidFill>
          <a:ln/>
        </p:spPr>
      </p:sp>
      <p:sp>
        <p:nvSpPr>
          <p:cNvPr id="21" name="Shape 19"/>
          <p:cNvSpPr/>
          <p:nvPr/>
        </p:nvSpPr>
        <p:spPr>
          <a:xfrm>
            <a:off x="496119" y="3499917"/>
            <a:ext cx="249138" cy="249138"/>
          </a:xfrm>
          <a:prstGeom prst="roundRect">
            <a:avLst>
              <a:gd name="adj" fmla="val 18671"/>
            </a:avLst>
          </a:prstGeom>
          <a:solidFill>
            <a:srgbClr val="CCF9FF"/>
          </a:solidFill>
          <a:ln w="4763">
            <a:solidFill>
              <a:srgbClr val="B2DFE5"/>
            </a:solidFill>
            <a:prstDash val="solid"/>
          </a:ln>
        </p:spPr>
      </p:sp>
      <p:sp>
        <p:nvSpPr>
          <p:cNvPr id="22" name="Text 20"/>
          <p:cNvSpPr/>
          <p:nvPr/>
        </p:nvSpPr>
        <p:spPr>
          <a:xfrm>
            <a:off x="537642" y="3520678"/>
            <a:ext cx="166092" cy="207615"/>
          </a:xfrm>
          <a:prstGeom prst="rect">
            <a:avLst/>
          </a:prstGeom>
          <a:noFill/>
          <a:ln/>
        </p:spPr>
        <p:txBody>
          <a:bodyPr wrap="none" lIns="0" tIns="0" rIns="0" bIns="0" rtlCol="0" anchor="ctr"/>
          <a:lstStyle/>
          <a:p>
            <a:pPr marL="0" indent="0" algn="ctr">
              <a:lnSpc>
                <a:spcPct val="100000"/>
              </a:lnSpc>
              <a:buNone/>
            </a:pPr>
            <a:r>
              <a:rPr lang="en-US" sz="1300" dirty="0">
                <a:solidFill>
                  <a:srgbClr val="000000"/>
                </a:solidFill>
                <a:latin typeface="Montserrat SemiBold" pitchFamily="34" charset="0"/>
                <a:ea typeface="Montserrat SemiBold" pitchFamily="34" charset="-122"/>
                <a:cs typeface="Montserrat SemiBold" pitchFamily="34" charset="-120"/>
              </a:rPr>
              <a:t>4</a:t>
            </a:r>
            <a:endParaRPr lang="en-US" sz="1300" dirty="0"/>
          </a:p>
        </p:txBody>
      </p:sp>
      <p:sp>
        <p:nvSpPr>
          <p:cNvPr id="23" name="Text 21"/>
          <p:cNvSpPr/>
          <p:nvPr/>
        </p:nvSpPr>
        <p:spPr>
          <a:xfrm>
            <a:off x="1174477" y="3537942"/>
            <a:ext cx="7473404" cy="173013"/>
          </a:xfrm>
          <a:prstGeom prst="rect">
            <a:avLst/>
          </a:prstGeom>
          <a:noFill/>
          <a:ln/>
        </p:spPr>
        <p:txBody>
          <a:bodyPr wrap="none" lIns="0" tIns="0" rIns="0" bIns="0" rtlCol="0" anchor="t"/>
          <a:lstStyle/>
          <a:p>
            <a:pPr marL="0" indent="0" algn="l">
              <a:lnSpc>
                <a:spcPct val="104000"/>
              </a:lnSpc>
              <a:buNone/>
            </a:pPr>
            <a:r>
              <a:rPr lang="en-US" sz="1050" dirty="0">
                <a:solidFill>
                  <a:srgbClr val="000000"/>
                </a:solidFill>
                <a:latin typeface="Montserrat SemiBold" pitchFamily="34" charset="0"/>
                <a:ea typeface="Montserrat SemiBold" pitchFamily="34" charset="-122"/>
                <a:cs typeface="Montserrat SemiBold" pitchFamily="34" charset="-120"/>
              </a:rPr>
              <a:t>Step 4 - Dual-Agent Decision &amp; Arbitration</a:t>
            </a:r>
            <a:endParaRPr lang="en-US" sz="1050" dirty="0"/>
          </a:p>
        </p:txBody>
      </p:sp>
      <p:sp>
        <p:nvSpPr>
          <p:cNvPr id="24" name="Text 22"/>
          <p:cNvSpPr/>
          <p:nvPr/>
        </p:nvSpPr>
        <p:spPr>
          <a:xfrm>
            <a:off x="1174477" y="3762821"/>
            <a:ext cx="7473404" cy="315516"/>
          </a:xfrm>
          <a:prstGeom prst="rect">
            <a:avLst/>
          </a:prstGeom>
          <a:noFill/>
          <a:ln/>
        </p:spPr>
        <p:txBody>
          <a:bodyPr wrap="square" lIns="0" tIns="0" rIns="0" bIns="0" rtlCol="0" anchor="t">
            <a:normAutofit/>
          </a:bodyPr>
          <a:lstStyle/>
          <a:p>
            <a:pPr marL="0" indent="0" algn="l">
              <a:lnSpc>
                <a:spcPct val="119000"/>
              </a:lnSpc>
              <a:buNone/>
            </a:pPr>
            <a:r>
              <a:rPr lang="en-US" sz="850" dirty="0">
                <a:solidFill>
                  <a:srgbClr val="000000"/>
                </a:solidFill>
                <a:latin typeface="Nunito Sans" pitchFamily="34" charset="0"/>
                <a:ea typeface="Nunito Sans" pitchFamily="34" charset="-122"/>
                <a:cs typeface="Nunito Sans" pitchFamily="34" charset="-120"/>
              </a:rPr>
              <a:t>Run a 0.001-second SimiFed RL Agent (fast reflex) and a 2.4-second Gemini ReAct LLM (deep reasoning) in parallel. Both agents vote; consensus is required before action.</a:t>
            </a:r>
            <a:endParaRPr lang="en-US" sz="850" dirty="0"/>
          </a:p>
        </p:txBody>
      </p:sp>
      <p:sp>
        <p:nvSpPr>
          <p:cNvPr id="25" name="Shape 23"/>
          <p:cNvSpPr/>
          <p:nvPr/>
        </p:nvSpPr>
        <p:spPr>
          <a:xfrm>
            <a:off x="730969" y="4368775"/>
            <a:ext cx="332259" cy="14288"/>
          </a:xfrm>
          <a:prstGeom prst="roundRect">
            <a:avLst>
              <a:gd name="adj" fmla="val 49998"/>
            </a:avLst>
          </a:prstGeom>
          <a:solidFill>
            <a:srgbClr val="B2DFE5"/>
          </a:solidFill>
          <a:ln/>
        </p:spPr>
      </p:sp>
      <p:sp>
        <p:nvSpPr>
          <p:cNvPr id="26" name="Shape 24"/>
          <p:cNvSpPr/>
          <p:nvPr/>
        </p:nvSpPr>
        <p:spPr>
          <a:xfrm>
            <a:off x="496119" y="4251350"/>
            <a:ext cx="249138" cy="249138"/>
          </a:xfrm>
          <a:prstGeom prst="roundRect">
            <a:avLst>
              <a:gd name="adj" fmla="val 18671"/>
            </a:avLst>
          </a:prstGeom>
          <a:solidFill>
            <a:srgbClr val="CCF9FF"/>
          </a:solidFill>
          <a:ln w="4763">
            <a:solidFill>
              <a:srgbClr val="B2DFE5"/>
            </a:solidFill>
            <a:prstDash val="solid"/>
          </a:ln>
        </p:spPr>
      </p:sp>
      <p:sp>
        <p:nvSpPr>
          <p:cNvPr id="27" name="Text 25"/>
          <p:cNvSpPr/>
          <p:nvPr/>
        </p:nvSpPr>
        <p:spPr>
          <a:xfrm>
            <a:off x="537642" y="4272111"/>
            <a:ext cx="166092" cy="207615"/>
          </a:xfrm>
          <a:prstGeom prst="rect">
            <a:avLst/>
          </a:prstGeom>
          <a:noFill/>
          <a:ln/>
        </p:spPr>
        <p:txBody>
          <a:bodyPr wrap="none" lIns="0" tIns="0" rIns="0" bIns="0" rtlCol="0" anchor="ctr"/>
          <a:lstStyle/>
          <a:p>
            <a:pPr marL="0" indent="0" algn="ctr">
              <a:lnSpc>
                <a:spcPct val="100000"/>
              </a:lnSpc>
              <a:buNone/>
            </a:pPr>
            <a:r>
              <a:rPr lang="en-US" sz="1300" dirty="0">
                <a:solidFill>
                  <a:srgbClr val="000000"/>
                </a:solidFill>
                <a:latin typeface="Montserrat SemiBold" pitchFamily="34" charset="0"/>
                <a:ea typeface="Montserrat SemiBold" pitchFamily="34" charset="-122"/>
                <a:cs typeface="Montserrat SemiBold" pitchFamily="34" charset="-120"/>
              </a:rPr>
              <a:t>5</a:t>
            </a:r>
            <a:endParaRPr lang="en-US" sz="1300" dirty="0"/>
          </a:p>
        </p:txBody>
      </p:sp>
      <p:sp>
        <p:nvSpPr>
          <p:cNvPr id="28" name="Text 26"/>
          <p:cNvSpPr/>
          <p:nvPr/>
        </p:nvSpPr>
        <p:spPr>
          <a:xfrm>
            <a:off x="1174477" y="4289375"/>
            <a:ext cx="7473404" cy="173013"/>
          </a:xfrm>
          <a:prstGeom prst="rect">
            <a:avLst/>
          </a:prstGeom>
          <a:noFill/>
          <a:ln/>
        </p:spPr>
        <p:txBody>
          <a:bodyPr wrap="none" lIns="0" tIns="0" rIns="0" bIns="0" rtlCol="0" anchor="t"/>
          <a:lstStyle/>
          <a:p>
            <a:pPr marL="0" indent="0" algn="l">
              <a:lnSpc>
                <a:spcPct val="104000"/>
              </a:lnSpc>
              <a:buNone/>
            </a:pPr>
            <a:r>
              <a:rPr lang="en-US" sz="1050" dirty="0">
                <a:solidFill>
                  <a:srgbClr val="000000"/>
                </a:solidFill>
                <a:latin typeface="Montserrat SemiBold" pitchFamily="34" charset="0"/>
                <a:ea typeface="Montserrat SemiBold" pitchFamily="34" charset="-122"/>
                <a:cs typeface="Montserrat SemiBold" pitchFamily="34" charset="-120"/>
              </a:rPr>
              <a:t>Step 5 - Operator Enactment &amp; Verification</a:t>
            </a:r>
            <a:endParaRPr lang="en-US" sz="1050" dirty="0"/>
          </a:p>
        </p:txBody>
      </p:sp>
      <p:sp>
        <p:nvSpPr>
          <p:cNvPr id="29" name="Text 27"/>
          <p:cNvSpPr/>
          <p:nvPr/>
        </p:nvSpPr>
        <p:spPr>
          <a:xfrm>
            <a:off x="1174477" y="4514255"/>
            <a:ext cx="7473404" cy="157758"/>
          </a:xfrm>
          <a:prstGeom prst="rect">
            <a:avLst/>
          </a:prstGeom>
          <a:noFill/>
          <a:ln/>
        </p:spPr>
        <p:txBody>
          <a:bodyPr wrap="none" lIns="0" tIns="0" rIns="0" bIns="0" rtlCol="0" anchor="t"/>
          <a:lstStyle/>
          <a:p>
            <a:pPr marL="0" indent="0" algn="l">
              <a:lnSpc>
                <a:spcPct val="119000"/>
              </a:lnSpc>
              <a:buNone/>
            </a:pPr>
            <a:r>
              <a:rPr lang="en-US" sz="850" dirty="0">
                <a:solidFill>
                  <a:srgbClr val="000000"/>
                </a:solidFill>
                <a:latin typeface="Nunito Sans" pitchFamily="34" charset="0"/>
                <a:ea typeface="Nunito Sans" pitchFamily="34" charset="-122"/>
                <a:cs typeface="Nunito Sans" pitchFamily="34" charset="-120"/>
              </a:rPr>
              <a:t>Execute the remediation on AKS. Post-action health checks verify the fix worked. If the anomaly persists or new anomalies emerge, the loop restarts.</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96119" y="1453679"/>
            <a:ext cx="8151763" cy="442987"/>
          </a:xfrm>
          <a:prstGeom prst="rect">
            <a:avLst/>
          </a:prstGeom>
          <a:noFill/>
          <a:ln/>
        </p:spPr>
        <p:txBody>
          <a:bodyPr wrap="none" lIns="0" tIns="0" rIns="0" bIns="0" rtlCol="0" anchor="t"/>
          <a:lstStyle/>
          <a:p>
            <a:pPr marL="0" indent="0" algn="l">
              <a:lnSpc>
                <a:spcPct val="104000"/>
              </a:lnSpc>
              <a:buNone/>
            </a:pPr>
            <a:r>
              <a:rPr lang="en-US" sz="2750" dirty="0">
                <a:solidFill>
                  <a:srgbClr val="000000"/>
                </a:solidFill>
                <a:latin typeface="Montserrat SemiBold" pitchFamily="34" charset="0"/>
                <a:ea typeface="Montserrat SemiBold" pitchFamily="34" charset="-122"/>
                <a:cs typeface="Montserrat SemiBold" pitchFamily="34" charset="-120"/>
              </a:rPr>
              <a:t>Key Innovations</a:t>
            </a:r>
            <a:endParaRPr lang="en-US" sz="2750" dirty="0"/>
          </a:p>
        </p:txBody>
      </p:sp>
      <p:sp>
        <p:nvSpPr>
          <p:cNvPr id="3" name="Text 1"/>
          <p:cNvSpPr/>
          <p:nvPr/>
        </p:nvSpPr>
        <p:spPr>
          <a:xfrm>
            <a:off x="496119" y="2180183"/>
            <a:ext cx="8151763" cy="1509564"/>
          </a:xfrm>
          <a:prstGeom prst="rect">
            <a:avLst/>
          </a:prstGeom>
          <a:noFill/>
          <a:ln/>
        </p:spPr>
        <p:txBody>
          <a:bodyPr wrap="square" lIns="0" tIns="56707" rIns="0" bIns="0" rtlCol="0" anchor="t">
            <a:normAutofit/>
          </a:bodyPr>
          <a:lstStyle/>
          <a:p>
            <a:pPr marL="223520" indent="-223520" algn="l">
              <a:lnSpc>
                <a:spcPct val="133000"/>
              </a:lnSpc>
              <a:buSzPct val="100000"/>
              <a:buChar char="•"/>
            </a:pPr>
            <a:r>
              <a:rPr lang="en-US" sz="1100" b="1" dirty="0">
                <a:solidFill>
                  <a:srgbClr val="000000"/>
                </a:solidFill>
                <a:latin typeface="Nunito Sans Bold" pitchFamily="34" charset="0"/>
                <a:ea typeface="Nunito Sans Bold" pitchFamily="34" charset="-122"/>
                <a:cs typeface="Nunito Sans Bold" pitchFamily="34" charset="-120"/>
              </a:rPr>
              <a:t>Explainable AI (KernelSHAP):</a:t>
            </a:r>
            <a:r>
              <a:rPr lang="en-US" sz="1100" dirty="0">
                <a:solidFill>
                  <a:srgbClr val="000000"/>
                </a:solidFill>
                <a:latin typeface="Nunito Sans" pitchFamily="34" charset="0"/>
                <a:ea typeface="Nunito Sans" pitchFamily="34" charset="-122"/>
                <a:cs typeface="Nunito Sans" pitchFamily="34" charset="-120"/>
              </a:rPr>
              <a:t> Shapley attributions show exactly which metrics caused the anomaly — essential for operator trust and auditability.</a:t>
            </a:r>
            <a:endParaRPr lang="en-US" sz="1100" dirty="0"/>
          </a:p>
          <a:p>
            <a:pPr marL="223520" indent="-223520" algn="l">
              <a:lnSpc>
                <a:spcPct val="133000"/>
              </a:lnSpc>
              <a:buSzPct val="100000"/>
              <a:buChar char="•"/>
            </a:pPr>
            <a:r>
              <a:rPr lang="en-US" sz="1100" b="1" dirty="0">
                <a:solidFill>
                  <a:srgbClr val="000000"/>
                </a:solidFill>
                <a:latin typeface="Nunito Sans Bold" pitchFamily="34" charset="0"/>
                <a:ea typeface="Nunito Sans Bold" pitchFamily="34" charset="-122"/>
                <a:cs typeface="Nunito Sans Bold" pitchFamily="34" charset="-120"/>
              </a:rPr>
              <a:t>SimPy 0.01s Dry-Run Gate:</a:t>
            </a:r>
            <a:r>
              <a:rPr lang="en-US" sz="1100" dirty="0">
                <a:solidFill>
                  <a:srgbClr val="000000"/>
                </a:solidFill>
                <a:latin typeface="Nunito Sans" pitchFamily="34" charset="0"/>
                <a:ea typeface="Nunito Sans" pitchFamily="34" charset="-122"/>
                <a:cs typeface="Nunito Sans" pitchFamily="34" charset="-120"/>
              </a:rPr>
              <a:t> Action-aware queuing simulation verifies safety and SLO impact before any live remediation.</a:t>
            </a:r>
            <a:endParaRPr lang="en-US" sz="1100" dirty="0"/>
          </a:p>
          <a:p>
            <a:pPr marL="223520" indent="-223520" algn="l">
              <a:lnSpc>
                <a:spcPct val="133000"/>
              </a:lnSpc>
              <a:buSzPct val="100000"/>
              <a:buChar char="•"/>
            </a:pPr>
            <a:r>
              <a:rPr lang="en-US" sz="1100" b="1" dirty="0">
                <a:solidFill>
                  <a:srgbClr val="000000"/>
                </a:solidFill>
                <a:latin typeface="Nunito Sans Bold" pitchFamily="34" charset="0"/>
                <a:ea typeface="Nunito Sans Bold" pitchFamily="34" charset="-122"/>
                <a:cs typeface="Nunito Sans Bold" pitchFamily="34" charset="-120"/>
              </a:rPr>
              <a:t>Dual Parallel Decision Engine:</a:t>
            </a:r>
            <a:r>
              <a:rPr lang="en-US" sz="1100" dirty="0">
                <a:solidFill>
                  <a:srgbClr val="000000"/>
                </a:solidFill>
                <a:latin typeface="Nunito Sans" pitchFamily="34" charset="0"/>
                <a:ea typeface="Nunito Sans" pitchFamily="34" charset="-122"/>
                <a:cs typeface="Nunito Sans" pitchFamily="34" charset="-120"/>
              </a:rPr>
              <a:t> Fast SimiFed reflex (0.001s) + Gemini ReAct (2.4s) reach consensus to avoid single-algorithm failures.</a:t>
            </a:r>
            <a:endParaRPr lang="en-US" sz="1100" dirty="0"/>
          </a:p>
          <a:p>
            <a:pPr marL="223520" indent="-223520" algn="l">
              <a:lnSpc>
                <a:spcPct val="133000"/>
              </a:lnSpc>
              <a:buSzPct val="100000"/>
              <a:buChar char="•"/>
            </a:pPr>
            <a:r>
              <a:rPr lang="en-US" sz="1100" b="1" dirty="0">
                <a:solidFill>
                  <a:srgbClr val="000000"/>
                </a:solidFill>
                <a:latin typeface="Nunito Sans Bold" pitchFamily="34" charset="0"/>
                <a:ea typeface="Nunito Sans Bold" pitchFamily="34" charset="-122"/>
                <a:cs typeface="Nunito Sans Bold" pitchFamily="34" charset="-120"/>
              </a:rPr>
              <a:t>Autonomous Shift-Left PR Fixes:</a:t>
            </a:r>
            <a:r>
              <a:rPr lang="en-US" sz="1100" dirty="0">
                <a:solidFill>
                  <a:srgbClr val="000000"/>
                </a:solidFill>
                <a:latin typeface="Nunito Sans" pitchFamily="34" charset="0"/>
                <a:ea typeface="Nunito Sans" pitchFamily="34" charset="-122"/>
                <a:cs typeface="Nunito Sans" pitchFamily="34" charset="-120"/>
              </a:rPr>
              <a:t> Extends self-healing upstream: automated fixes and GitOps PRs reduce repeat incidents.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96119" y="1223442"/>
            <a:ext cx="8151763" cy="442987"/>
          </a:xfrm>
          <a:prstGeom prst="rect">
            <a:avLst/>
          </a:prstGeom>
          <a:noFill/>
          <a:ln/>
        </p:spPr>
        <p:txBody>
          <a:bodyPr wrap="none" lIns="0" tIns="0" rIns="0" bIns="0" rtlCol="0" anchor="t"/>
          <a:lstStyle/>
          <a:p>
            <a:pPr marL="0" indent="0" algn="l">
              <a:lnSpc>
                <a:spcPct val="104000"/>
              </a:lnSpc>
              <a:buNone/>
            </a:pPr>
            <a:r>
              <a:rPr lang="en-US" sz="2750" dirty="0">
                <a:solidFill>
                  <a:srgbClr val="000000"/>
                </a:solidFill>
                <a:latin typeface="Montserrat SemiBold" pitchFamily="34" charset="0"/>
                <a:ea typeface="Montserrat SemiBold" pitchFamily="34" charset="-122"/>
                <a:cs typeface="Montserrat SemiBold" pitchFamily="34" charset="-120"/>
              </a:rPr>
              <a:t>Deployment &amp; Operational Considerations</a:t>
            </a:r>
            <a:endParaRPr lang="en-US" sz="2750" dirty="0"/>
          </a:p>
        </p:txBody>
      </p:sp>
      <p:sp>
        <p:nvSpPr>
          <p:cNvPr id="3" name="Text 1"/>
          <p:cNvSpPr/>
          <p:nvPr/>
        </p:nvSpPr>
        <p:spPr>
          <a:xfrm>
            <a:off x="496119" y="2006575"/>
            <a:ext cx="4360143" cy="226814"/>
          </a:xfrm>
          <a:prstGeom prst="rect">
            <a:avLst/>
          </a:prstGeom>
          <a:noFill/>
          <a:ln/>
        </p:spPr>
        <p:txBody>
          <a:bodyPr wrap="none" lIns="0" tIns="0" rIns="0" bIns="0" rtlCol="0" anchor="t"/>
          <a:lstStyle/>
          <a:p>
            <a:pPr marL="0" indent="0" algn="l">
              <a:lnSpc>
                <a:spcPct val="133000"/>
              </a:lnSpc>
              <a:buNone/>
            </a:pPr>
            <a:r>
              <a:rPr lang="en-US" sz="1100" dirty="0">
                <a:solidFill>
                  <a:srgbClr val="000000"/>
                </a:solidFill>
                <a:latin typeface="Nunito Sans" pitchFamily="34" charset="0"/>
                <a:ea typeface="Nunito Sans" pitchFamily="34" charset="-122"/>
                <a:cs typeface="Nunito Sans" pitchFamily="34" charset="-120"/>
              </a:rPr>
              <a:t>Production stack highlights:</a:t>
            </a:r>
            <a:endParaRPr lang="en-US" sz="1100" dirty="0"/>
          </a:p>
        </p:txBody>
      </p:sp>
      <p:sp>
        <p:nvSpPr>
          <p:cNvPr id="4" name="Text 2"/>
          <p:cNvSpPr/>
          <p:nvPr/>
        </p:nvSpPr>
        <p:spPr>
          <a:xfrm>
            <a:off x="496119" y="2360935"/>
            <a:ext cx="3902943" cy="1055936"/>
          </a:xfrm>
          <a:prstGeom prst="rect">
            <a:avLst/>
          </a:prstGeom>
          <a:noFill/>
          <a:ln/>
        </p:spPr>
        <p:txBody>
          <a:bodyPr wrap="square" lIns="0" tIns="56707" rIns="0" bIns="0" rtlCol="0" anchor="t">
            <a:normAutofit/>
          </a:bodyPr>
          <a:lstStyle/>
          <a:p>
            <a:pPr marL="223520" indent="-223520" algn="l">
              <a:lnSpc>
                <a:spcPct val="133000"/>
              </a:lnSpc>
              <a:buSzPct val="100000"/>
              <a:buChar char="•"/>
            </a:pPr>
            <a:r>
              <a:rPr lang="en-US" sz="1100" dirty="0">
                <a:solidFill>
                  <a:srgbClr val="000000"/>
                </a:solidFill>
                <a:latin typeface="Nunito Sans" pitchFamily="34" charset="0"/>
                <a:ea typeface="Nunito Sans" pitchFamily="34" charset="-122"/>
                <a:cs typeface="Nunito Sans" pitchFamily="34" charset="-120"/>
              </a:rPr>
              <a:t>Azure Container Apps / AKS for workload execution</a:t>
            </a:r>
            <a:endParaRPr lang="en-US" sz="1100" dirty="0"/>
          </a:p>
          <a:p>
            <a:pPr marL="223520" indent="-223520" algn="l">
              <a:lnSpc>
                <a:spcPct val="133000"/>
              </a:lnSpc>
              <a:buSzPct val="100000"/>
              <a:buChar char="•"/>
            </a:pPr>
            <a:r>
              <a:rPr lang="en-US" sz="1100" dirty="0">
                <a:solidFill>
                  <a:srgbClr val="000000"/>
                </a:solidFill>
                <a:latin typeface="Nunito Sans" pitchFamily="34" charset="0"/>
                <a:ea typeface="Nunito Sans" pitchFamily="34" charset="-122"/>
                <a:cs typeface="Nunito Sans" pitchFamily="34" charset="-120"/>
              </a:rPr>
              <a:t>PostgreSQL for TDTdb persistence; Key Vault for secrets</a:t>
            </a:r>
            <a:endParaRPr lang="en-US" sz="1100" dirty="0"/>
          </a:p>
          <a:p>
            <a:pPr marL="223520" indent="-223520" algn="l">
              <a:lnSpc>
                <a:spcPct val="133000"/>
              </a:lnSpc>
              <a:buSzPct val="100000"/>
              <a:buChar char="•"/>
            </a:pPr>
            <a:r>
              <a:rPr lang="en-US" sz="1100" dirty="0">
                <a:solidFill>
                  <a:srgbClr val="000000"/>
                </a:solidFill>
                <a:latin typeface="Nunito Sans" pitchFamily="34" charset="0"/>
                <a:ea typeface="Nunito Sans" pitchFamily="34" charset="-122"/>
                <a:cs typeface="Nunito Sans" pitchFamily="34" charset="-120"/>
              </a:rPr>
              <a:t>Container Registry + GitOps for automated delivery</a:t>
            </a:r>
            <a:endParaRPr lang="en-US" sz="1100" dirty="0"/>
          </a:p>
          <a:p>
            <a:pPr marL="223520" indent="-223520" algn="l">
              <a:lnSpc>
                <a:spcPct val="133000"/>
              </a:lnSpc>
              <a:buSzPct val="100000"/>
              <a:buChar char="•"/>
            </a:pPr>
            <a:r>
              <a:rPr lang="en-US" sz="1100" dirty="0">
                <a:solidFill>
                  <a:srgbClr val="000000"/>
                </a:solidFill>
                <a:latin typeface="Nunito Sans" pitchFamily="34" charset="0"/>
                <a:ea typeface="Nunito Sans" pitchFamily="34" charset="-122"/>
                <a:cs typeface="Nunito Sans" pitchFamily="34" charset="-120"/>
              </a:rPr>
              <a:t>Hardened Kubernetes operator for idempotent actuations</a:t>
            </a:r>
            <a:endParaRPr lang="en-US" sz="1100" dirty="0"/>
          </a:p>
        </p:txBody>
      </p:sp>
      <p:sp>
        <p:nvSpPr>
          <p:cNvPr id="5" name="Text 3"/>
          <p:cNvSpPr/>
          <p:nvPr/>
        </p:nvSpPr>
        <p:spPr>
          <a:xfrm>
            <a:off x="4749701" y="2006575"/>
            <a:ext cx="4360143" cy="226814"/>
          </a:xfrm>
          <a:prstGeom prst="rect">
            <a:avLst/>
          </a:prstGeom>
          <a:noFill/>
          <a:ln/>
        </p:spPr>
        <p:txBody>
          <a:bodyPr wrap="none" lIns="0" tIns="0" rIns="0" bIns="0" rtlCol="0" anchor="t"/>
          <a:lstStyle/>
          <a:p>
            <a:pPr marL="0" indent="0" algn="l">
              <a:lnSpc>
                <a:spcPct val="133000"/>
              </a:lnSpc>
              <a:buNone/>
            </a:pPr>
            <a:r>
              <a:rPr lang="en-US" sz="1100" dirty="0">
                <a:solidFill>
                  <a:srgbClr val="000000"/>
                </a:solidFill>
                <a:latin typeface="Nunito Sans" pitchFamily="34" charset="0"/>
                <a:ea typeface="Nunito Sans" pitchFamily="34" charset="-122"/>
                <a:cs typeface="Nunito Sans" pitchFamily="34" charset="-120"/>
              </a:rPr>
              <a:t>Operational safety &amp; governance:</a:t>
            </a:r>
            <a:endParaRPr lang="en-US" sz="1100" dirty="0"/>
          </a:p>
        </p:txBody>
      </p:sp>
      <p:sp>
        <p:nvSpPr>
          <p:cNvPr id="6" name="Text 4"/>
          <p:cNvSpPr/>
          <p:nvPr/>
        </p:nvSpPr>
        <p:spPr>
          <a:xfrm>
            <a:off x="4749701" y="2360935"/>
            <a:ext cx="3902943" cy="1509564"/>
          </a:xfrm>
          <a:prstGeom prst="rect">
            <a:avLst/>
          </a:prstGeom>
          <a:noFill/>
          <a:ln/>
        </p:spPr>
        <p:txBody>
          <a:bodyPr wrap="square" lIns="0" tIns="56707" rIns="0" bIns="0" rtlCol="0" anchor="t">
            <a:normAutofit/>
          </a:bodyPr>
          <a:lstStyle/>
          <a:p>
            <a:pPr marL="223520" indent="-223520" algn="l">
              <a:lnSpc>
                <a:spcPct val="133000"/>
              </a:lnSpc>
              <a:buSzPct val="100000"/>
              <a:buChar char="•"/>
            </a:pPr>
            <a:r>
              <a:rPr lang="en-US" sz="1100" dirty="0">
                <a:solidFill>
                  <a:srgbClr val="000000"/>
                </a:solidFill>
                <a:latin typeface="Nunito Sans" pitchFamily="34" charset="0"/>
                <a:ea typeface="Nunito Sans" pitchFamily="34" charset="-122"/>
                <a:cs typeface="Nunito Sans" pitchFamily="34" charset="-120"/>
              </a:rPr>
              <a:t>Action approval policies and operator override UI</a:t>
            </a:r>
            <a:endParaRPr lang="en-US" sz="1100" dirty="0"/>
          </a:p>
          <a:p>
            <a:pPr marL="223520" indent="-223520" algn="l">
              <a:lnSpc>
                <a:spcPct val="133000"/>
              </a:lnSpc>
              <a:buSzPct val="100000"/>
              <a:buChar char="•"/>
            </a:pPr>
            <a:r>
              <a:rPr lang="en-US" sz="1100" dirty="0">
                <a:solidFill>
                  <a:srgbClr val="000000"/>
                </a:solidFill>
                <a:latin typeface="Nunito Sans" pitchFamily="34" charset="0"/>
                <a:ea typeface="Nunito Sans" pitchFamily="34" charset="-122"/>
                <a:cs typeface="Nunito Sans" pitchFamily="34" charset="-120"/>
              </a:rPr>
              <a:t>Audit logs, SHAP explanations, and simulation evidence for compliance</a:t>
            </a:r>
            <a:endParaRPr lang="en-US" sz="1100" dirty="0"/>
          </a:p>
          <a:p>
            <a:pPr marL="223520" indent="-223520" algn="l">
              <a:lnSpc>
                <a:spcPct val="133000"/>
              </a:lnSpc>
              <a:buSzPct val="100000"/>
              <a:buChar char="•"/>
            </a:pPr>
            <a:r>
              <a:rPr lang="en-US" sz="1100" dirty="0">
                <a:solidFill>
                  <a:srgbClr val="000000"/>
                </a:solidFill>
                <a:latin typeface="Nunito Sans" pitchFamily="34" charset="0"/>
                <a:ea typeface="Nunito Sans" pitchFamily="34" charset="-122"/>
                <a:cs typeface="Nunito Sans" pitchFamily="34" charset="-120"/>
              </a:rPr>
              <a:t>Rate-limited, deduplicated queues to prevent remediation flapping</a:t>
            </a:r>
            <a:endParaRPr lang="en-US" sz="1100" dirty="0"/>
          </a:p>
          <a:p>
            <a:pPr marL="223520" indent="-223520" algn="l">
              <a:lnSpc>
                <a:spcPct val="133000"/>
              </a:lnSpc>
              <a:buSzPct val="100000"/>
              <a:buChar char="•"/>
            </a:pPr>
            <a:r>
              <a:rPr lang="en-US" sz="1100" dirty="0">
                <a:solidFill>
                  <a:srgbClr val="000000"/>
                </a:solidFill>
                <a:latin typeface="Nunito Sans" pitchFamily="34" charset="0"/>
                <a:ea typeface="Nunito Sans" pitchFamily="34" charset="-122"/>
                <a:cs typeface="Nunito Sans" pitchFamily="34" charset="-120"/>
              </a:rPr>
              <a:t>Post-action health checks and automatic rollback triggers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96119" y="447749"/>
            <a:ext cx="8151763" cy="373782"/>
          </a:xfrm>
          <a:prstGeom prst="rect">
            <a:avLst/>
          </a:prstGeom>
          <a:noFill/>
          <a:ln/>
        </p:spPr>
        <p:txBody>
          <a:bodyPr wrap="none" lIns="0" tIns="0" rIns="0" bIns="0" rtlCol="0" anchor="t"/>
          <a:lstStyle/>
          <a:p>
            <a:pPr marL="0" indent="0" algn="l">
              <a:lnSpc>
                <a:spcPct val="104000"/>
              </a:lnSpc>
              <a:buNone/>
            </a:pPr>
            <a:r>
              <a:rPr lang="en-US" sz="2350" dirty="0">
                <a:solidFill>
                  <a:srgbClr val="000000"/>
                </a:solidFill>
                <a:latin typeface="Montserrat SemiBold" pitchFamily="34" charset="0"/>
                <a:ea typeface="Montserrat SemiBold" pitchFamily="34" charset="-122"/>
                <a:cs typeface="Montserrat SemiBold" pitchFamily="34" charset="-120"/>
              </a:rPr>
              <a:t>Next Steps &amp; Roadmap</a:t>
            </a:r>
            <a:endParaRPr lang="en-US" sz="2350" dirty="0"/>
          </a:p>
        </p:txBody>
      </p:sp>
      <p:sp>
        <p:nvSpPr>
          <p:cNvPr id="3" name="Shape 1"/>
          <p:cNvSpPr/>
          <p:nvPr/>
        </p:nvSpPr>
        <p:spPr>
          <a:xfrm>
            <a:off x="585788" y="1023342"/>
            <a:ext cx="14288" cy="3131195"/>
          </a:xfrm>
          <a:prstGeom prst="roundRect">
            <a:avLst>
              <a:gd name="adj" fmla="val 49998"/>
            </a:avLst>
          </a:prstGeom>
          <a:solidFill>
            <a:srgbClr val="B2DFE5"/>
          </a:solidFill>
          <a:ln/>
        </p:spPr>
      </p:sp>
      <p:sp>
        <p:nvSpPr>
          <p:cNvPr id="4" name="Shape 2"/>
          <p:cNvSpPr/>
          <p:nvPr/>
        </p:nvSpPr>
        <p:spPr>
          <a:xfrm>
            <a:off x="571500" y="1150739"/>
            <a:ext cx="239167" cy="14288"/>
          </a:xfrm>
          <a:prstGeom prst="roundRect">
            <a:avLst>
              <a:gd name="adj" fmla="val 49998"/>
            </a:avLst>
          </a:prstGeom>
          <a:solidFill>
            <a:srgbClr val="B2DFE5"/>
          </a:solidFill>
          <a:ln/>
        </p:spPr>
      </p:sp>
      <p:sp>
        <p:nvSpPr>
          <p:cNvPr id="5" name="Shape 3"/>
          <p:cNvSpPr/>
          <p:nvPr/>
        </p:nvSpPr>
        <p:spPr>
          <a:xfrm>
            <a:off x="540953" y="1113048"/>
            <a:ext cx="89669" cy="89669"/>
          </a:xfrm>
          <a:prstGeom prst="ellipse">
            <a:avLst/>
          </a:prstGeom>
          <a:solidFill>
            <a:srgbClr val="00A8C0"/>
          </a:solidFill>
          <a:ln/>
        </p:spPr>
      </p:sp>
      <p:sp>
        <p:nvSpPr>
          <p:cNvPr id="6" name="Text 4"/>
          <p:cNvSpPr/>
          <p:nvPr/>
        </p:nvSpPr>
        <p:spPr>
          <a:xfrm>
            <a:off x="1064270" y="1064419"/>
            <a:ext cx="7583612" cy="186854"/>
          </a:xfrm>
          <a:prstGeom prst="rect">
            <a:avLst/>
          </a:prstGeom>
          <a:noFill/>
          <a:ln/>
        </p:spPr>
        <p:txBody>
          <a:bodyPr wrap="none" lIns="0" tIns="0" rIns="0" bIns="0" rtlCol="0" anchor="t"/>
          <a:lstStyle/>
          <a:p>
            <a:pPr marL="0" indent="0" algn="l">
              <a:lnSpc>
                <a:spcPct val="104000"/>
              </a:lnSpc>
              <a:buNone/>
            </a:pPr>
            <a:r>
              <a:rPr lang="en-US" sz="1150" dirty="0">
                <a:solidFill>
                  <a:srgbClr val="000000"/>
                </a:solidFill>
                <a:latin typeface="Montserrat SemiBold" pitchFamily="34" charset="0"/>
                <a:ea typeface="Montserrat SemiBold" pitchFamily="34" charset="-122"/>
                <a:cs typeface="Montserrat SemiBold" pitchFamily="34" charset="-120"/>
              </a:rPr>
              <a:t>1. Pilot on a Critical Microservice</a:t>
            </a:r>
            <a:endParaRPr lang="en-US" sz="1150" dirty="0"/>
          </a:p>
        </p:txBody>
      </p:sp>
      <p:sp>
        <p:nvSpPr>
          <p:cNvPr id="7" name="Text 5"/>
          <p:cNvSpPr/>
          <p:nvPr/>
        </p:nvSpPr>
        <p:spPr>
          <a:xfrm>
            <a:off x="1064270" y="1311771"/>
            <a:ext cx="7583612" cy="176361"/>
          </a:xfrm>
          <a:prstGeom prst="rect">
            <a:avLst/>
          </a:prstGeom>
          <a:noFill/>
          <a:ln/>
        </p:spPr>
        <p:txBody>
          <a:bodyPr wrap="none" lIns="0" tIns="0" rIns="0" bIns="0" rtlCol="0" anchor="t"/>
          <a:lstStyle/>
          <a:p>
            <a:pPr marL="0" indent="0" algn="l">
              <a:lnSpc>
                <a:spcPct val="123000"/>
              </a:lnSpc>
              <a:buNone/>
            </a:pPr>
            <a:r>
              <a:rPr lang="en-US" sz="900" dirty="0">
                <a:solidFill>
                  <a:srgbClr val="000000"/>
                </a:solidFill>
                <a:latin typeface="Nunito Sans" pitchFamily="34" charset="0"/>
                <a:ea typeface="Nunito Sans" pitchFamily="34" charset="-122"/>
                <a:cs typeface="Nunito Sans" pitchFamily="34" charset="-120"/>
              </a:rPr>
              <a:t>Instrument telemetry, enable PR intelligence, run closed-loop in passive mode for 2–4 weeks.</a:t>
            </a:r>
            <a:endParaRPr lang="en-US" sz="900" dirty="0"/>
          </a:p>
        </p:txBody>
      </p:sp>
      <p:sp>
        <p:nvSpPr>
          <p:cNvPr id="8" name="Shape 6"/>
          <p:cNvSpPr/>
          <p:nvPr/>
        </p:nvSpPr>
        <p:spPr>
          <a:xfrm>
            <a:off x="571500" y="1817340"/>
            <a:ext cx="239167" cy="14288"/>
          </a:xfrm>
          <a:prstGeom prst="roundRect">
            <a:avLst>
              <a:gd name="adj" fmla="val 49998"/>
            </a:avLst>
          </a:prstGeom>
          <a:solidFill>
            <a:srgbClr val="B2DFE5"/>
          </a:solidFill>
          <a:ln/>
        </p:spPr>
      </p:sp>
      <p:sp>
        <p:nvSpPr>
          <p:cNvPr id="9" name="Shape 7"/>
          <p:cNvSpPr/>
          <p:nvPr/>
        </p:nvSpPr>
        <p:spPr>
          <a:xfrm>
            <a:off x="540953" y="1779650"/>
            <a:ext cx="89669" cy="89669"/>
          </a:xfrm>
          <a:prstGeom prst="ellipse">
            <a:avLst/>
          </a:prstGeom>
          <a:solidFill>
            <a:srgbClr val="00A8C0"/>
          </a:solidFill>
          <a:ln/>
        </p:spPr>
      </p:sp>
      <p:sp>
        <p:nvSpPr>
          <p:cNvPr id="10" name="Text 8"/>
          <p:cNvSpPr/>
          <p:nvPr/>
        </p:nvSpPr>
        <p:spPr>
          <a:xfrm>
            <a:off x="1064270" y="1731020"/>
            <a:ext cx="7583612" cy="186854"/>
          </a:xfrm>
          <a:prstGeom prst="rect">
            <a:avLst/>
          </a:prstGeom>
          <a:noFill/>
          <a:ln/>
        </p:spPr>
        <p:txBody>
          <a:bodyPr wrap="none" lIns="0" tIns="0" rIns="0" bIns="0" rtlCol="0" anchor="t"/>
          <a:lstStyle/>
          <a:p>
            <a:pPr marL="0" indent="0" algn="l">
              <a:lnSpc>
                <a:spcPct val="104000"/>
              </a:lnSpc>
              <a:buNone/>
            </a:pPr>
            <a:r>
              <a:rPr lang="en-US" sz="1150" dirty="0">
                <a:solidFill>
                  <a:srgbClr val="000000"/>
                </a:solidFill>
                <a:latin typeface="Montserrat SemiBold" pitchFamily="34" charset="0"/>
                <a:ea typeface="Montserrat SemiBold" pitchFamily="34" charset="-122"/>
                <a:cs typeface="Montserrat SemiBold" pitchFamily="34" charset="-120"/>
              </a:rPr>
              <a:t>2. Safety Policy Tuning</a:t>
            </a:r>
            <a:endParaRPr lang="en-US" sz="1150" dirty="0"/>
          </a:p>
        </p:txBody>
      </p:sp>
      <p:sp>
        <p:nvSpPr>
          <p:cNvPr id="11" name="Text 9"/>
          <p:cNvSpPr/>
          <p:nvPr/>
        </p:nvSpPr>
        <p:spPr>
          <a:xfrm>
            <a:off x="1064270" y="1978372"/>
            <a:ext cx="7583612" cy="176361"/>
          </a:xfrm>
          <a:prstGeom prst="rect">
            <a:avLst/>
          </a:prstGeom>
          <a:noFill/>
          <a:ln/>
        </p:spPr>
        <p:txBody>
          <a:bodyPr wrap="none" lIns="0" tIns="0" rIns="0" bIns="0" rtlCol="0" anchor="t"/>
          <a:lstStyle/>
          <a:p>
            <a:pPr marL="0" indent="0" algn="l">
              <a:lnSpc>
                <a:spcPct val="123000"/>
              </a:lnSpc>
              <a:buNone/>
            </a:pPr>
            <a:r>
              <a:rPr lang="en-US" sz="900" dirty="0">
                <a:solidFill>
                  <a:srgbClr val="000000"/>
                </a:solidFill>
                <a:latin typeface="Nunito Sans" pitchFamily="34" charset="0"/>
                <a:ea typeface="Nunito Sans" pitchFamily="34" charset="-122"/>
                <a:cs typeface="Nunito Sans" pitchFamily="34" charset="-120"/>
              </a:rPr>
              <a:t>Calibrate SHAP thresholds, simulation constraints, and consensus weights with SREs.</a:t>
            </a:r>
            <a:endParaRPr lang="en-US" sz="900" dirty="0"/>
          </a:p>
        </p:txBody>
      </p:sp>
      <p:sp>
        <p:nvSpPr>
          <p:cNvPr id="12" name="Shape 10"/>
          <p:cNvSpPr/>
          <p:nvPr/>
        </p:nvSpPr>
        <p:spPr>
          <a:xfrm>
            <a:off x="571500" y="2483941"/>
            <a:ext cx="239167" cy="14288"/>
          </a:xfrm>
          <a:prstGeom prst="roundRect">
            <a:avLst>
              <a:gd name="adj" fmla="val 49998"/>
            </a:avLst>
          </a:prstGeom>
          <a:solidFill>
            <a:srgbClr val="B2DFE5"/>
          </a:solidFill>
          <a:ln/>
        </p:spPr>
      </p:sp>
      <p:sp>
        <p:nvSpPr>
          <p:cNvPr id="13" name="Shape 11"/>
          <p:cNvSpPr/>
          <p:nvPr/>
        </p:nvSpPr>
        <p:spPr>
          <a:xfrm>
            <a:off x="540953" y="2446251"/>
            <a:ext cx="89669" cy="89669"/>
          </a:xfrm>
          <a:prstGeom prst="ellipse">
            <a:avLst/>
          </a:prstGeom>
          <a:solidFill>
            <a:srgbClr val="00A8C0"/>
          </a:solidFill>
          <a:ln/>
        </p:spPr>
      </p:sp>
      <p:sp>
        <p:nvSpPr>
          <p:cNvPr id="14" name="Text 12"/>
          <p:cNvSpPr/>
          <p:nvPr/>
        </p:nvSpPr>
        <p:spPr>
          <a:xfrm>
            <a:off x="1064270" y="2397621"/>
            <a:ext cx="7583612" cy="186854"/>
          </a:xfrm>
          <a:prstGeom prst="rect">
            <a:avLst/>
          </a:prstGeom>
          <a:noFill/>
          <a:ln/>
        </p:spPr>
        <p:txBody>
          <a:bodyPr wrap="none" lIns="0" tIns="0" rIns="0" bIns="0" rtlCol="0" anchor="t"/>
          <a:lstStyle/>
          <a:p>
            <a:pPr marL="0" indent="0" algn="l">
              <a:lnSpc>
                <a:spcPct val="104000"/>
              </a:lnSpc>
              <a:buNone/>
            </a:pPr>
            <a:r>
              <a:rPr lang="en-US" sz="1150" dirty="0">
                <a:solidFill>
                  <a:srgbClr val="000000"/>
                </a:solidFill>
                <a:latin typeface="Montserrat SemiBold" pitchFamily="34" charset="0"/>
                <a:ea typeface="Montserrat SemiBold" pitchFamily="34" charset="-122"/>
                <a:cs typeface="Montserrat SemiBold" pitchFamily="34" charset="-120"/>
              </a:rPr>
              <a:t>3. Gradual Automation Rollout</a:t>
            </a:r>
            <a:endParaRPr lang="en-US" sz="1150" dirty="0"/>
          </a:p>
        </p:txBody>
      </p:sp>
      <p:sp>
        <p:nvSpPr>
          <p:cNvPr id="15" name="Text 13"/>
          <p:cNvSpPr/>
          <p:nvPr/>
        </p:nvSpPr>
        <p:spPr>
          <a:xfrm>
            <a:off x="1064270" y="2644973"/>
            <a:ext cx="7583612" cy="176361"/>
          </a:xfrm>
          <a:prstGeom prst="rect">
            <a:avLst/>
          </a:prstGeom>
          <a:noFill/>
          <a:ln/>
        </p:spPr>
        <p:txBody>
          <a:bodyPr wrap="none" lIns="0" tIns="0" rIns="0" bIns="0" rtlCol="0" anchor="t"/>
          <a:lstStyle/>
          <a:p>
            <a:pPr marL="0" indent="0" algn="l">
              <a:lnSpc>
                <a:spcPct val="123000"/>
              </a:lnSpc>
              <a:buNone/>
            </a:pPr>
            <a:r>
              <a:rPr lang="en-US" sz="900" dirty="0">
                <a:solidFill>
                  <a:srgbClr val="000000"/>
                </a:solidFill>
                <a:latin typeface="Nunito Sans" pitchFamily="34" charset="0"/>
                <a:ea typeface="Nunito Sans" pitchFamily="34" charset="-122"/>
                <a:cs typeface="Nunito Sans" pitchFamily="34" charset="-120"/>
              </a:rPr>
              <a:t>Move from advisory to automated actuation in controlled stages with rollback safeguards.</a:t>
            </a:r>
            <a:endParaRPr lang="en-US" sz="900" dirty="0"/>
          </a:p>
        </p:txBody>
      </p:sp>
      <p:sp>
        <p:nvSpPr>
          <p:cNvPr id="16" name="Shape 14"/>
          <p:cNvSpPr/>
          <p:nvPr/>
        </p:nvSpPr>
        <p:spPr>
          <a:xfrm>
            <a:off x="571500" y="3150543"/>
            <a:ext cx="239167" cy="14288"/>
          </a:xfrm>
          <a:prstGeom prst="roundRect">
            <a:avLst>
              <a:gd name="adj" fmla="val 49998"/>
            </a:avLst>
          </a:prstGeom>
          <a:solidFill>
            <a:srgbClr val="B2DFE5"/>
          </a:solidFill>
          <a:ln/>
        </p:spPr>
      </p:sp>
      <p:sp>
        <p:nvSpPr>
          <p:cNvPr id="17" name="Shape 15"/>
          <p:cNvSpPr/>
          <p:nvPr/>
        </p:nvSpPr>
        <p:spPr>
          <a:xfrm>
            <a:off x="540953" y="3112852"/>
            <a:ext cx="89669" cy="89669"/>
          </a:xfrm>
          <a:prstGeom prst="ellipse">
            <a:avLst/>
          </a:prstGeom>
          <a:solidFill>
            <a:srgbClr val="00A8C0"/>
          </a:solidFill>
          <a:ln/>
        </p:spPr>
      </p:sp>
      <p:sp>
        <p:nvSpPr>
          <p:cNvPr id="18" name="Text 16"/>
          <p:cNvSpPr/>
          <p:nvPr/>
        </p:nvSpPr>
        <p:spPr>
          <a:xfrm>
            <a:off x="1064270" y="3064222"/>
            <a:ext cx="7583612" cy="186854"/>
          </a:xfrm>
          <a:prstGeom prst="rect">
            <a:avLst/>
          </a:prstGeom>
          <a:noFill/>
          <a:ln/>
        </p:spPr>
        <p:txBody>
          <a:bodyPr wrap="none" lIns="0" tIns="0" rIns="0" bIns="0" rtlCol="0" anchor="t"/>
          <a:lstStyle/>
          <a:p>
            <a:pPr marL="0" indent="0" algn="l">
              <a:lnSpc>
                <a:spcPct val="104000"/>
              </a:lnSpc>
              <a:buNone/>
            </a:pPr>
            <a:r>
              <a:rPr lang="en-US" sz="1150" dirty="0">
                <a:solidFill>
                  <a:srgbClr val="000000"/>
                </a:solidFill>
                <a:latin typeface="Montserrat SemiBold" pitchFamily="34" charset="0"/>
                <a:ea typeface="Montserrat SemiBold" pitchFamily="34" charset="-122"/>
                <a:cs typeface="Montserrat SemiBold" pitchFamily="34" charset="-120"/>
              </a:rPr>
              <a:t>4. Enterprise Integration</a:t>
            </a:r>
            <a:endParaRPr lang="en-US" sz="1150" dirty="0"/>
          </a:p>
        </p:txBody>
      </p:sp>
      <p:sp>
        <p:nvSpPr>
          <p:cNvPr id="19" name="Text 17"/>
          <p:cNvSpPr/>
          <p:nvPr/>
        </p:nvSpPr>
        <p:spPr>
          <a:xfrm>
            <a:off x="1064270" y="3311575"/>
            <a:ext cx="7583612" cy="176361"/>
          </a:xfrm>
          <a:prstGeom prst="rect">
            <a:avLst/>
          </a:prstGeom>
          <a:noFill/>
          <a:ln/>
        </p:spPr>
        <p:txBody>
          <a:bodyPr wrap="none" lIns="0" tIns="0" rIns="0" bIns="0" rtlCol="0" anchor="t"/>
          <a:lstStyle/>
          <a:p>
            <a:pPr marL="0" indent="0" algn="l">
              <a:lnSpc>
                <a:spcPct val="123000"/>
              </a:lnSpc>
              <a:buNone/>
            </a:pPr>
            <a:r>
              <a:rPr lang="en-US" sz="900" dirty="0">
                <a:solidFill>
                  <a:srgbClr val="000000"/>
                </a:solidFill>
                <a:latin typeface="Nunito Sans" pitchFamily="34" charset="0"/>
                <a:ea typeface="Nunito Sans" pitchFamily="34" charset="-122"/>
                <a:cs typeface="Nunito Sans" pitchFamily="34" charset="-120"/>
              </a:rPr>
              <a:t>Connect to corporate SIEM, change management, and compliance audit pipelines.</a:t>
            </a:r>
            <a:endParaRPr lang="en-US" sz="900" dirty="0"/>
          </a:p>
        </p:txBody>
      </p:sp>
      <p:sp>
        <p:nvSpPr>
          <p:cNvPr id="20" name="Shape 18"/>
          <p:cNvSpPr/>
          <p:nvPr/>
        </p:nvSpPr>
        <p:spPr>
          <a:xfrm>
            <a:off x="571500" y="3817144"/>
            <a:ext cx="239167" cy="14288"/>
          </a:xfrm>
          <a:prstGeom prst="roundRect">
            <a:avLst>
              <a:gd name="adj" fmla="val 49998"/>
            </a:avLst>
          </a:prstGeom>
          <a:solidFill>
            <a:srgbClr val="B2DFE5"/>
          </a:solidFill>
          <a:ln/>
        </p:spPr>
      </p:sp>
      <p:sp>
        <p:nvSpPr>
          <p:cNvPr id="21" name="Shape 19"/>
          <p:cNvSpPr/>
          <p:nvPr/>
        </p:nvSpPr>
        <p:spPr>
          <a:xfrm>
            <a:off x="540953" y="3779453"/>
            <a:ext cx="89669" cy="89669"/>
          </a:xfrm>
          <a:prstGeom prst="ellipse">
            <a:avLst/>
          </a:prstGeom>
          <a:solidFill>
            <a:srgbClr val="00A8C0"/>
          </a:solidFill>
          <a:ln/>
        </p:spPr>
      </p:sp>
      <p:sp>
        <p:nvSpPr>
          <p:cNvPr id="22" name="Text 20"/>
          <p:cNvSpPr/>
          <p:nvPr/>
        </p:nvSpPr>
        <p:spPr>
          <a:xfrm>
            <a:off x="1064270" y="3730823"/>
            <a:ext cx="7583612" cy="186854"/>
          </a:xfrm>
          <a:prstGeom prst="rect">
            <a:avLst/>
          </a:prstGeom>
          <a:noFill/>
          <a:ln/>
        </p:spPr>
        <p:txBody>
          <a:bodyPr wrap="none" lIns="0" tIns="0" rIns="0" bIns="0" rtlCol="0" anchor="t"/>
          <a:lstStyle/>
          <a:p>
            <a:pPr marL="0" indent="0" algn="l">
              <a:lnSpc>
                <a:spcPct val="104000"/>
              </a:lnSpc>
              <a:buNone/>
            </a:pPr>
            <a:r>
              <a:rPr lang="en-US" sz="1150" dirty="0">
                <a:solidFill>
                  <a:srgbClr val="000000"/>
                </a:solidFill>
                <a:latin typeface="Montserrat SemiBold" pitchFamily="34" charset="0"/>
                <a:ea typeface="Montserrat SemiBold" pitchFamily="34" charset="-122"/>
                <a:cs typeface="Montserrat SemiBold" pitchFamily="34" charset="-120"/>
              </a:rPr>
              <a:t>5. Measure &amp; Iterate</a:t>
            </a:r>
            <a:endParaRPr lang="en-US" sz="1150" dirty="0"/>
          </a:p>
        </p:txBody>
      </p:sp>
      <p:sp>
        <p:nvSpPr>
          <p:cNvPr id="23" name="Text 21"/>
          <p:cNvSpPr/>
          <p:nvPr/>
        </p:nvSpPr>
        <p:spPr>
          <a:xfrm>
            <a:off x="1064270" y="3978176"/>
            <a:ext cx="7583612" cy="176361"/>
          </a:xfrm>
          <a:prstGeom prst="rect">
            <a:avLst/>
          </a:prstGeom>
          <a:noFill/>
          <a:ln/>
        </p:spPr>
        <p:txBody>
          <a:bodyPr wrap="none" lIns="0" tIns="0" rIns="0" bIns="0" rtlCol="0" anchor="t"/>
          <a:lstStyle/>
          <a:p>
            <a:pPr marL="0" indent="0" algn="l">
              <a:lnSpc>
                <a:spcPct val="123000"/>
              </a:lnSpc>
              <a:buNone/>
            </a:pPr>
            <a:r>
              <a:rPr lang="en-US" sz="900" dirty="0">
                <a:solidFill>
                  <a:srgbClr val="000000"/>
                </a:solidFill>
                <a:latin typeface="Nunito Sans" pitchFamily="34" charset="0"/>
                <a:ea typeface="Nunito Sans" pitchFamily="34" charset="-122"/>
                <a:cs typeface="Nunito Sans" pitchFamily="34" charset="-120"/>
              </a:rPr>
              <a:t>Track MTTR, MTBF, false-positive rate, and developer merge-failure reduction; iterate models and policies.</a:t>
            </a:r>
            <a:endParaRPr lang="en-US" sz="900" dirty="0"/>
          </a:p>
        </p:txBody>
      </p:sp>
      <p:sp>
        <p:nvSpPr>
          <p:cNvPr id="24" name="Shape 22"/>
          <p:cNvSpPr/>
          <p:nvPr/>
        </p:nvSpPr>
        <p:spPr>
          <a:xfrm>
            <a:off x="496119" y="4268019"/>
            <a:ext cx="8151763" cy="427732"/>
          </a:xfrm>
          <a:prstGeom prst="roundRect">
            <a:avLst>
              <a:gd name="adj" fmla="val 11745"/>
            </a:avLst>
          </a:prstGeom>
          <a:solidFill>
            <a:srgbClr val="CCF9FF"/>
          </a:solidFill>
          <a:ln/>
        </p:spPr>
      </p:sp>
      <p:pic>
        <p:nvPicPr>
          <p:cNvPr id="25" name="Image 0" descr="preencoded.png"/>
          <p:cNvPicPr>
            <a:picLocks noChangeAspect="1"/>
          </p:cNvPicPr>
          <p:nvPr/>
        </p:nvPicPr>
        <p:blipFill>
          <a:blip r:embed="rId3"/>
          <a:stretch>
            <a:fillRect/>
          </a:stretch>
        </p:blipFill>
        <p:spPr>
          <a:xfrm>
            <a:off x="615702" y="4413126"/>
            <a:ext cx="149498" cy="119583"/>
          </a:xfrm>
          <a:prstGeom prst="rect">
            <a:avLst/>
          </a:prstGeom>
        </p:spPr>
      </p:pic>
      <p:sp>
        <p:nvSpPr>
          <p:cNvPr id="26" name="Text 23"/>
          <p:cNvSpPr/>
          <p:nvPr/>
        </p:nvSpPr>
        <p:spPr>
          <a:xfrm>
            <a:off x="884783" y="4398764"/>
            <a:ext cx="8100715" cy="176361"/>
          </a:xfrm>
          <a:prstGeom prst="rect">
            <a:avLst/>
          </a:prstGeom>
          <a:noFill/>
          <a:ln/>
        </p:spPr>
        <p:txBody>
          <a:bodyPr wrap="none" lIns="0" tIns="0" rIns="0" bIns="0" rtlCol="0" anchor="t"/>
          <a:lstStyle/>
          <a:p>
            <a:pPr marL="0" indent="0" algn="l">
              <a:lnSpc>
                <a:spcPct val="123000"/>
              </a:lnSpc>
              <a:buNone/>
            </a:pPr>
            <a:r>
              <a:rPr lang="en-US" sz="900" dirty="0">
                <a:solidFill>
                  <a:srgbClr val="000000"/>
                </a:solidFill>
                <a:latin typeface="Nunito Sans" pitchFamily="34" charset="0"/>
                <a:ea typeface="Nunito Sans" pitchFamily="34" charset="-122"/>
                <a:cs typeface="Nunito Sans" pitchFamily="34" charset="-120"/>
              </a:rPr>
              <a:t>Recommended metrics to track: MTTR, incident frequency, PR defect catch rate, successful auto-fix merges, and simulation false-negatives.</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123</TotalTime>
  <Words>1625</Words>
  <Application>Microsoft Office PowerPoint</Application>
  <PresentationFormat>On-screen Show (16:9)</PresentationFormat>
  <Paragraphs>147</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Montserrat SemiBold</vt:lpstr>
      <vt:lpstr>Nunito Sans</vt:lpstr>
      <vt:lpstr>Nunito Sans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Raghuram S</dc:creator>
  <cp:lastModifiedBy>Aadi Haldar</cp:lastModifiedBy>
  <cp:revision>3</cp:revision>
  <dcterms:created xsi:type="dcterms:W3CDTF">2026-08-17T11:42:26Z</dcterms:created>
  <dcterms:modified xsi:type="dcterms:W3CDTF">2026-08-18T05:00:22Z</dcterms:modified>
</cp:coreProperties>
</file>